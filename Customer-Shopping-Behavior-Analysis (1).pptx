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1695" cy="6858000"/>
  <p:notesSz cx="6858000" cy="12191695"/>
  <p:embeddedFontLst>
    <p:embeddedFont>
      <p:font typeface="Be Vietnam Pro"/>
      <p:regular r:id="rId201314"/>
    </p:embeddedFont>
    <p:embeddedFont>
      <p:font typeface="Be Vietnam Pro Medium"/>
      <p:regular r:id="rId201315"/>
    </p:embeddedFont>
    <p:embeddedFont>
      <p:font typeface="Be Vietnam Pro Bold"/>
      <p:regular r:id="rId201316"/>
    </p:embeddedFont>
    <p:embeddedFont>
      <p:font typeface="Geist Mono"/>
      <p:regular r:id="rId201317"/>
    </p:embeddedFont>
    <p:embeddedFont>
      <p:font typeface="Geist Mono Bold"/>
      <p:regular r:id="rId201318"/>
    </p:embeddedFont>
    <p:embeddedFont>
      <p:font typeface="Noto Serif Display Light"/>
      <p:regular r:id="rId201319"/>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2-1.jpeg"/><Relationship Id="rId2" Type="http://schemas.openxmlformats.org/officeDocument/2006/relationships/image" Target="../media/image-1002-2.png"/><Relationship Id="rId4"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2.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D9E6D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pic>
        <p:nvPicPr>
          <p:cNvPr id="3" name="Image 1" descr="preencoded.png">
            <a:hlinkClick r:id="rId3" tooltip=""/>
          </p:cNvPr>
          <p:cNvPicPr>
            <a:picLocks noChangeAspect="1"/>
          </p:cNvPicPr>
          <p:nvPr/>
        </p:nvPicPr>
        <p:blipFill>
          <a:blip r:embed="rId2"/>
          <a:stretch>
            <a:fillRect/>
          </a:stretch>
        </p:blipFill>
        <p:spPr>
          <a:xfrm>
            <a:off x="11076875" y="6558991"/>
            <a:ext cx="1071843" cy="25603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master 2">
    <p:bg>
      <p:bgPr>
        <a:solidFill>
          <a:srgbClr val="D9E6DF"/>
        </a:solidFill>
      </p:bgPr>
    </p:bg>
    <p:spTree>
      <p:nvGrpSpPr>
        <p:cNvPr id="1" name=""/>
        <p:cNvGrpSpPr/>
        <p:nvPr/>
      </p:nvGrpSpPr>
      <p:grpSpPr>
        <a:xfrm>
          <a:off x="0" y="0"/>
          <a:ext cx="0" cy="0"/>
          <a:chOff x="0" y="0"/>
          <a:chExt cx="0" cy="0"/>
        </a:xfrm>
      </p:grpSpPr>
      <p:pic>
        <p:nvPicPr>
          <p:cNvPr id="2" name="Image 0" descr="preencoded.png">
            <a:hlinkClick r:id="rId2" tooltip=""/>
          </p:cNvPr>
          <p:cNvPicPr>
            <a:picLocks noChangeAspect="1"/>
          </p:cNvPicPr>
          <p:nvPr/>
        </p:nvPicPr>
        <p:blipFill>
          <a:blip r:embed="rId1"/>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660383" y="2032000"/>
            <a:ext cx="6095848" cy="2755106"/>
          </a:xfrm>
          <a:prstGeom prst="rect">
            <a:avLst/>
          </a:prstGeom>
          <a:solidFill>
            <a:srgbClr val="EEF4F0"/>
          </a:solidFill>
          <a:ln/>
        </p:spPr>
      </p:sp>
      <p:sp>
        <p:nvSpPr>
          <p:cNvPr id="3" name="Text 1"/>
          <p:cNvSpPr/>
          <p:nvPr/>
        </p:nvSpPr>
        <p:spPr>
          <a:xfrm>
            <a:off x="1092173" y="2413000"/>
            <a:ext cx="5841854" cy="265410"/>
          </a:xfrm>
          <a:prstGeom prst="rect">
            <a:avLst/>
          </a:prstGeom>
          <a:noFill/>
          <a:ln/>
        </p:spPr>
        <p:txBody>
          <a:bodyPr wrap="none" lIns="0" tIns="0" rIns="0" bIns="0" rtlCol="0" anchor="t"/>
          <a:lstStyle/>
          <a:p>
            <a:pPr algn="l" indent="0" marL="0">
              <a:lnSpc>
                <a:spcPct val="158000"/>
              </a:lnSpc>
              <a:buNone/>
            </a:pPr>
            <a:r>
              <a:rPr lang="en-US" sz="1100" spc="110" kern="100" dirty="0">
                <a:solidFill>
                  <a:srgbClr val="9E2F22"/>
                </a:solidFill>
                <a:latin typeface="Geist Mono" pitchFamily="34" charset="0"/>
                <a:ea typeface="Geist Mono" pitchFamily="34" charset="-122"/>
                <a:cs typeface="Geist Mono" pitchFamily="34" charset="-120"/>
              </a:rPr>
              <a:t>— RETAIL ANALYTICS · SQL &amp; PYTHON STUDY</a:t>
            </a:r>
            <a:endParaRPr lang="en-US" sz="1100" dirty="0"/>
          </a:p>
        </p:txBody>
      </p:sp>
      <p:sp>
        <p:nvSpPr>
          <p:cNvPr id="4" name="Text 2"/>
          <p:cNvSpPr/>
          <p:nvPr/>
        </p:nvSpPr>
        <p:spPr>
          <a:xfrm>
            <a:off x="1092173" y="2819698"/>
            <a:ext cx="5232269" cy="965200"/>
          </a:xfrm>
          <a:prstGeom prst="rect">
            <a:avLst/>
          </a:prstGeom>
          <a:noFill/>
          <a:ln/>
        </p:spPr>
        <p:txBody>
          <a:bodyPr wrap="square" lIns="0" tIns="0" rIns="0" bIns="0" rtlCol="0" anchor="t">
            <a:normAutofit/>
          </a:bodyPr>
          <a:lstStyle/>
          <a:p>
            <a:pPr algn="l" indent="0" marL="0">
              <a:lnSpc>
                <a:spcPct val="83000"/>
              </a:lnSpc>
              <a:buNone/>
            </a:pPr>
            <a:r>
              <a:rPr lang="en-US" sz="3800" dirty="0">
                <a:solidFill>
                  <a:srgbClr val="17222B"/>
                </a:solidFill>
                <a:latin typeface="Noto Serif Display Light" pitchFamily="34" charset="0"/>
                <a:ea typeface="Noto Serif Display Light" pitchFamily="34" charset="-122"/>
                <a:cs typeface="Noto Serif Display Light" pitchFamily="34" charset="-120"/>
              </a:rPr>
              <a:t>CUSTOMER SHOPPING BEHAVIOR ANALYSIS</a:t>
            </a:r>
            <a:endParaRPr lang="en-US" sz="3800" dirty="0"/>
          </a:p>
        </p:txBody>
      </p:sp>
      <p:sp>
        <p:nvSpPr>
          <p:cNvPr id="5" name="Shape 3"/>
          <p:cNvSpPr/>
          <p:nvPr/>
        </p:nvSpPr>
        <p:spPr>
          <a:xfrm>
            <a:off x="1092173" y="3956348"/>
            <a:ext cx="654034" cy="12601"/>
          </a:xfrm>
          <a:prstGeom prst="roundRect">
            <a:avLst>
              <a:gd name="adj" fmla="val 49998"/>
            </a:avLst>
          </a:prstGeom>
          <a:solidFill>
            <a:srgbClr val="9E2F22"/>
          </a:solidFill>
          <a:ln/>
        </p:spPr>
      </p:sp>
      <p:sp>
        <p:nvSpPr>
          <p:cNvPr id="6" name="Text 4"/>
          <p:cNvSpPr/>
          <p:nvPr/>
        </p:nvSpPr>
        <p:spPr>
          <a:xfrm>
            <a:off x="1092173" y="4168676"/>
            <a:ext cx="5841854" cy="237430"/>
          </a:xfrm>
          <a:prstGeom prst="rect">
            <a:avLst/>
          </a:prstGeom>
          <a:noFill/>
          <a:ln/>
        </p:spPr>
        <p:txBody>
          <a:bodyPr wrap="none" lIns="0" tIns="0" rIns="0" bIns="0" rtlCol="0" anchor="t"/>
          <a:lstStyle/>
          <a:p>
            <a:pPr algn="l" indent="0" marL="0">
              <a:lnSpc>
                <a:spcPct val="142000"/>
              </a:lnSpc>
              <a:buNone/>
            </a:pPr>
            <a:r>
              <a:rPr lang="en-US" sz="1100" spc="132" kern="100" dirty="0">
                <a:solidFill>
                  <a:srgbClr val="44545A"/>
                </a:solidFill>
                <a:latin typeface="Geist Mono" pitchFamily="34" charset="0"/>
                <a:ea typeface="Geist Mono" pitchFamily="34" charset="-122"/>
                <a:cs typeface="Geist Mono" pitchFamily="34" charset="-120"/>
              </a:rPr>
              <a:t>TRANSACTIONAL STUDY · 3,900 RECORDS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189" y="457200"/>
            <a:ext cx="11734506" cy="254992"/>
          </a:xfrm>
          <a:prstGeom prst="rect">
            <a:avLst/>
          </a:prstGeom>
          <a:noFill/>
          <a:ln/>
        </p:spPr>
        <p:txBody>
          <a:bodyPr wrap="none" lIns="0" tIns="0" rIns="0" bIns="0" rtlCol="0" anchor="t"/>
          <a:lstStyle/>
          <a:p>
            <a:pPr algn="l" indent="0" marL="0">
              <a:lnSpc>
                <a:spcPct val="158000"/>
              </a:lnSpc>
              <a:buNone/>
            </a:pPr>
            <a:r>
              <a:rPr lang="en-US" sz="1050" spc="106" kern="100" dirty="0">
                <a:solidFill>
                  <a:srgbClr val="9E2F22"/>
                </a:solidFill>
                <a:latin typeface="Geist Mono" pitchFamily="34" charset="0"/>
                <a:ea typeface="Geist Mono" pitchFamily="34" charset="-122"/>
                <a:cs typeface="Geist Mono" pitchFamily="34" charset="-120"/>
              </a:rPr>
              <a:t>— EXECUTIVE SUMMARY</a:t>
            </a:r>
            <a:endParaRPr lang="en-US" sz="1050" dirty="0"/>
          </a:p>
        </p:txBody>
      </p:sp>
      <p:sp>
        <p:nvSpPr>
          <p:cNvPr id="3" name="Text 1"/>
          <p:cNvSpPr/>
          <p:nvPr/>
        </p:nvSpPr>
        <p:spPr>
          <a:xfrm>
            <a:off x="457189" y="862782"/>
            <a:ext cx="11277318" cy="724297"/>
          </a:xfrm>
          <a:prstGeom prst="rect">
            <a:avLst/>
          </a:prstGeom>
          <a:noFill/>
          <a:ln/>
        </p:spPr>
        <p:txBody>
          <a:bodyPr wrap="none" lIns="0" tIns="0" rIns="0" bIns="0" rtlCol="0" anchor="t"/>
          <a:lstStyle/>
          <a:p>
            <a:pPr algn="l" indent="0" marL="0">
              <a:lnSpc>
                <a:spcPct val="88000"/>
              </a:lnSpc>
              <a:buNone/>
            </a:pPr>
            <a:r>
              <a:rPr lang="en-US" sz="5400" dirty="0">
                <a:solidFill>
                  <a:srgbClr val="17222B"/>
                </a:solidFill>
                <a:latin typeface="Noto Serif Display Light" pitchFamily="34" charset="0"/>
                <a:ea typeface="Noto Serif Display Light" pitchFamily="34" charset="-122"/>
                <a:cs typeface="Noto Serif Display Light" pitchFamily="34" charset="-120"/>
              </a:rPr>
              <a:t>PROJECT OVERVIEW</a:t>
            </a:r>
            <a:endParaRPr lang="en-US" sz="5400" dirty="0"/>
          </a:p>
        </p:txBody>
      </p:sp>
      <p:sp>
        <p:nvSpPr>
          <p:cNvPr id="4" name="Shape 2"/>
          <p:cNvSpPr/>
          <p:nvPr/>
        </p:nvSpPr>
        <p:spPr>
          <a:xfrm>
            <a:off x="457189" y="1900833"/>
            <a:ext cx="1409665" cy="12601"/>
          </a:xfrm>
          <a:prstGeom prst="roundRect">
            <a:avLst>
              <a:gd name="adj" fmla="val 49998"/>
            </a:avLst>
          </a:prstGeom>
          <a:solidFill>
            <a:srgbClr val="9E2F22"/>
          </a:solidFill>
          <a:ln/>
        </p:spPr>
      </p:sp>
      <p:sp>
        <p:nvSpPr>
          <p:cNvPr id="5" name="Text 3"/>
          <p:cNvSpPr/>
          <p:nvPr/>
        </p:nvSpPr>
        <p:spPr>
          <a:xfrm>
            <a:off x="457189" y="2290176"/>
            <a:ext cx="7111822" cy="1614785"/>
          </a:xfrm>
          <a:prstGeom prst="rect">
            <a:avLst/>
          </a:prstGeom>
          <a:noFill/>
          <a:ln/>
        </p:spPr>
        <p:txBody>
          <a:bodyPr wrap="square" lIns="0" tIns="0" rIns="0" bIns="0" rtlCol="0" anchor="t">
            <a:normAutofit/>
          </a:bodyPr>
          <a:lstStyle/>
          <a:p>
            <a:pPr algn="l" indent="0" marL="0">
              <a:lnSpc>
                <a:spcPct val="123000"/>
              </a:lnSpc>
              <a:buNone/>
            </a:pPr>
            <a:r>
              <a:rPr lang="en-US" sz="1750" dirty="0">
                <a:solidFill>
                  <a:srgbClr val="17222B"/>
                </a:solidFill>
                <a:latin typeface="Be Vietnam Pro" pitchFamily="34" charset="0"/>
                <a:ea typeface="Be Vietnam Pro" pitchFamily="34" charset="-122"/>
                <a:cs typeface="Be Vietnam Pro" pitchFamily="34" charset="-120"/>
              </a:rPr>
              <a:t>This project analyzes customer shopping behavior using transactional data from 3,900 purchases across various product categories. The goal is to uncover insights into spending patterns, customer segments, product preferences, and subscription behavior to guide strategic business decisions.</a:t>
            </a:r>
            <a:endParaRPr lang="en-US" sz="1750" dirty="0"/>
          </a:p>
        </p:txBody>
      </p:sp>
      <p:sp>
        <p:nvSpPr>
          <p:cNvPr id="6" name="Text 4"/>
          <p:cNvSpPr/>
          <p:nvPr/>
        </p:nvSpPr>
        <p:spPr>
          <a:xfrm>
            <a:off x="457189" y="4158871"/>
            <a:ext cx="3442606" cy="683320"/>
          </a:xfrm>
          <a:prstGeom prst="rect">
            <a:avLst/>
          </a:prstGeom>
          <a:noFill/>
          <a:ln/>
        </p:spPr>
        <p:txBody>
          <a:bodyPr wrap="none" lIns="0" tIns="0" rIns="0" bIns="0" rtlCol="0" anchor="t"/>
          <a:lstStyle/>
          <a:p>
            <a:pPr algn="l" indent="0" marL="0">
              <a:lnSpc>
                <a:spcPct val="83000"/>
              </a:lnSpc>
              <a:buNone/>
            </a:pPr>
            <a:r>
              <a:rPr lang="en-US" sz="5400" dirty="0">
                <a:solidFill>
                  <a:srgbClr val="9E2F22"/>
                </a:solidFill>
                <a:latin typeface="Noto Serif Display Light" pitchFamily="34" charset="0"/>
                <a:ea typeface="Noto Serif Display Light" pitchFamily="34" charset="-122"/>
                <a:cs typeface="Noto Serif Display Light" pitchFamily="34" charset="-120"/>
              </a:rPr>
              <a:t>3,900</a:t>
            </a:r>
            <a:endParaRPr lang="en-US" sz="5400" dirty="0"/>
          </a:p>
        </p:txBody>
      </p:sp>
      <p:sp>
        <p:nvSpPr>
          <p:cNvPr id="7" name="Text 5"/>
          <p:cNvSpPr/>
          <p:nvPr/>
        </p:nvSpPr>
        <p:spPr>
          <a:xfrm>
            <a:off x="457189" y="4922143"/>
            <a:ext cx="3759106" cy="228203"/>
          </a:xfrm>
          <a:prstGeom prst="rect">
            <a:avLst/>
          </a:prstGeom>
          <a:noFill/>
          <a:ln/>
        </p:spPr>
        <p:txBody>
          <a:bodyPr wrap="none" lIns="0" tIns="0" rIns="0" bIns="0" rtlCol="0" anchor="t"/>
          <a:lstStyle/>
          <a:p>
            <a:pPr algn="l" indent="0" marL="0">
              <a:lnSpc>
                <a:spcPct val="142000"/>
              </a:lnSpc>
              <a:buNone/>
            </a:pPr>
            <a:r>
              <a:rPr lang="en-US" sz="1050" spc="127" kern="100" dirty="0">
                <a:solidFill>
                  <a:srgbClr val="44545A"/>
                </a:solidFill>
                <a:latin typeface="Geist Mono" pitchFamily="34" charset="0"/>
                <a:ea typeface="Geist Mono" pitchFamily="34" charset="-122"/>
                <a:cs typeface="Geist Mono" pitchFamily="34" charset="-120"/>
              </a:rPr>
              <a:t>CUSTOMER PURCHASES</a:t>
            </a:r>
            <a:endParaRPr lang="en-US" sz="1050" dirty="0"/>
          </a:p>
        </p:txBody>
      </p:sp>
      <p:sp>
        <p:nvSpPr>
          <p:cNvPr id="8" name="Text 6"/>
          <p:cNvSpPr/>
          <p:nvPr/>
        </p:nvSpPr>
        <p:spPr>
          <a:xfrm>
            <a:off x="457189" y="5252839"/>
            <a:ext cx="3442606" cy="538361"/>
          </a:xfrm>
          <a:prstGeom prst="rect">
            <a:avLst/>
          </a:prstGeom>
          <a:noFill/>
          <a:ln/>
        </p:spPr>
        <p:txBody>
          <a:bodyPr wrap="square" lIns="0" tIns="0" rIns="0" bIns="0" rtlCol="0" anchor="t">
            <a:normAutofit/>
          </a:bodyPr>
          <a:lstStyle/>
          <a:p>
            <a:pPr algn="l" indent="0" marL="0">
              <a:lnSpc>
                <a:spcPct val="123000"/>
              </a:lnSpc>
              <a:buNone/>
            </a:pPr>
            <a:r>
              <a:rPr lang="en-US" sz="1450" dirty="0">
                <a:solidFill>
                  <a:srgbClr val="44545A"/>
                </a:solidFill>
                <a:latin typeface="Be Vietnam Pro" pitchFamily="34" charset="0"/>
                <a:ea typeface="Be Vietnam Pro" pitchFamily="34" charset="-122"/>
                <a:cs typeface="Be Vietnam Pro" pitchFamily="34" charset="-120"/>
              </a:rPr>
              <a:t>Full transactional dataset across diverse categories.</a:t>
            </a:r>
            <a:endParaRPr lang="en-US" sz="1450" dirty="0"/>
          </a:p>
        </p:txBody>
      </p:sp>
      <p:sp>
        <p:nvSpPr>
          <p:cNvPr id="9" name="Text 7"/>
          <p:cNvSpPr/>
          <p:nvPr/>
        </p:nvSpPr>
        <p:spPr>
          <a:xfrm>
            <a:off x="4532794" y="4158871"/>
            <a:ext cx="3126106" cy="683320"/>
          </a:xfrm>
          <a:prstGeom prst="rect">
            <a:avLst/>
          </a:prstGeom>
          <a:noFill/>
          <a:ln/>
        </p:spPr>
        <p:txBody>
          <a:bodyPr wrap="none" lIns="0" tIns="0" rIns="0" bIns="0" rtlCol="0" anchor="t"/>
          <a:lstStyle/>
          <a:p>
            <a:pPr algn="l" indent="0" marL="0">
              <a:lnSpc>
                <a:spcPct val="83000"/>
              </a:lnSpc>
              <a:buNone/>
            </a:pPr>
            <a:r>
              <a:rPr lang="en-US" sz="5400" dirty="0">
                <a:solidFill>
                  <a:srgbClr val="9E2F22"/>
                </a:solidFill>
                <a:latin typeface="Noto Serif Display Light" pitchFamily="34" charset="0"/>
                <a:ea typeface="Noto Serif Display Light" pitchFamily="34" charset="-122"/>
                <a:cs typeface="Noto Serif Display Light" pitchFamily="34" charset="-120"/>
              </a:rPr>
              <a:t>18</a:t>
            </a:r>
            <a:endParaRPr lang="en-US" sz="5400" dirty="0"/>
          </a:p>
        </p:txBody>
      </p:sp>
      <p:sp>
        <p:nvSpPr>
          <p:cNvPr id="10" name="Text 8"/>
          <p:cNvSpPr/>
          <p:nvPr/>
        </p:nvSpPr>
        <p:spPr>
          <a:xfrm>
            <a:off x="4532794" y="4922143"/>
            <a:ext cx="3442606" cy="228203"/>
          </a:xfrm>
          <a:prstGeom prst="rect">
            <a:avLst/>
          </a:prstGeom>
          <a:noFill/>
          <a:ln/>
        </p:spPr>
        <p:txBody>
          <a:bodyPr wrap="none" lIns="0" tIns="0" rIns="0" bIns="0" rtlCol="0" anchor="t"/>
          <a:lstStyle/>
          <a:p>
            <a:pPr algn="l" indent="0" marL="0">
              <a:lnSpc>
                <a:spcPct val="142000"/>
              </a:lnSpc>
              <a:buNone/>
            </a:pPr>
            <a:r>
              <a:rPr lang="en-US" sz="1050" spc="127" kern="100" dirty="0">
                <a:solidFill>
                  <a:srgbClr val="44545A"/>
                </a:solidFill>
                <a:latin typeface="Geist Mono" pitchFamily="34" charset="0"/>
                <a:ea typeface="Geist Mono" pitchFamily="34" charset="-122"/>
                <a:cs typeface="Geist Mono" pitchFamily="34" charset="-120"/>
              </a:rPr>
              <a:t>OBSERVED DIMENSIONS</a:t>
            </a:r>
            <a:endParaRPr lang="en-US" sz="1050" dirty="0"/>
          </a:p>
        </p:txBody>
      </p:sp>
      <p:sp>
        <p:nvSpPr>
          <p:cNvPr id="11" name="Text 9"/>
          <p:cNvSpPr/>
          <p:nvPr/>
        </p:nvSpPr>
        <p:spPr>
          <a:xfrm>
            <a:off x="4532794" y="5252839"/>
            <a:ext cx="3126106" cy="538361"/>
          </a:xfrm>
          <a:prstGeom prst="rect">
            <a:avLst/>
          </a:prstGeom>
          <a:noFill/>
          <a:ln/>
        </p:spPr>
        <p:txBody>
          <a:bodyPr wrap="square" lIns="0" tIns="0" rIns="0" bIns="0" rtlCol="0" anchor="t">
            <a:normAutofit/>
          </a:bodyPr>
          <a:lstStyle/>
          <a:p>
            <a:pPr algn="l" indent="0" marL="0">
              <a:lnSpc>
                <a:spcPct val="123000"/>
              </a:lnSpc>
              <a:buNone/>
            </a:pPr>
            <a:r>
              <a:rPr lang="en-US" sz="1450" dirty="0">
                <a:solidFill>
                  <a:srgbClr val="44545A"/>
                </a:solidFill>
                <a:latin typeface="Be Vietnam Pro" pitchFamily="34" charset="0"/>
                <a:ea typeface="Be Vietnam Pro" pitchFamily="34" charset="-122"/>
                <a:cs typeface="Be Vietnam Pro" pitchFamily="34" charset="-120"/>
              </a:rPr>
              <a:t>Demographics, purchase details, and promotional attributes.</a:t>
            </a:r>
            <a:endParaRPr lang="en-US" sz="1450" dirty="0"/>
          </a:p>
        </p:txBody>
      </p:sp>
      <p:sp>
        <p:nvSpPr>
          <p:cNvPr id="12" name="Text 10"/>
          <p:cNvSpPr/>
          <p:nvPr/>
        </p:nvSpPr>
        <p:spPr>
          <a:xfrm>
            <a:off x="8291900" y="4158871"/>
            <a:ext cx="3442606" cy="1366639"/>
          </a:xfrm>
          <a:prstGeom prst="rect">
            <a:avLst/>
          </a:prstGeom>
          <a:noFill/>
          <a:ln/>
        </p:spPr>
        <p:txBody>
          <a:bodyPr wrap="square" lIns="0" tIns="0" rIns="0" bIns="0" rtlCol="0" anchor="t">
            <a:normAutofit/>
          </a:bodyPr>
          <a:lstStyle/>
          <a:p>
            <a:pPr algn="l" indent="0" marL="0">
              <a:lnSpc>
                <a:spcPct val="83000"/>
              </a:lnSpc>
              <a:buNone/>
            </a:pPr>
            <a:r>
              <a:rPr lang="en-US" sz="5400" dirty="0">
                <a:solidFill>
                  <a:srgbClr val="9E2F22"/>
                </a:solidFill>
                <a:latin typeface="Noto Serif Display Light" pitchFamily="34" charset="0"/>
                <a:ea typeface="Noto Serif Display Light" pitchFamily="34" charset="-122"/>
                <a:cs typeface="Noto Serif Display Light" pitchFamily="34" charset="-120"/>
              </a:rPr>
              <a:t>SQL + PYTHON</a:t>
            </a:r>
            <a:endParaRPr lang="en-US" sz="5400" dirty="0"/>
          </a:p>
        </p:txBody>
      </p:sp>
      <p:sp>
        <p:nvSpPr>
          <p:cNvPr id="13" name="Text 11"/>
          <p:cNvSpPr/>
          <p:nvPr/>
        </p:nvSpPr>
        <p:spPr>
          <a:xfrm>
            <a:off x="8291900" y="5605463"/>
            <a:ext cx="3442606" cy="228203"/>
          </a:xfrm>
          <a:prstGeom prst="rect">
            <a:avLst/>
          </a:prstGeom>
          <a:noFill/>
          <a:ln/>
        </p:spPr>
        <p:txBody>
          <a:bodyPr wrap="none" lIns="0" tIns="0" rIns="0" bIns="0" rtlCol="0" anchor="t"/>
          <a:lstStyle/>
          <a:p>
            <a:pPr algn="l" indent="0" marL="0">
              <a:lnSpc>
                <a:spcPct val="142000"/>
              </a:lnSpc>
              <a:buNone/>
            </a:pPr>
            <a:r>
              <a:rPr lang="en-US" sz="1050" spc="127" kern="100" dirty="0">
                <a:solidFill>
                  <a:srgbClr val="44545A"/>
                </a:solidFill>
                <a:latin typeface="Geist Mono" pitchFamily="34" charset="0"/>
                <a:ea typeface="Geist Mono" pitchFamily="34" charset="-122"/>
                <a:cs typeface="Geist Mono" pitchFamily="34" charset="-120"/>
              </a:rPr>
              <a:t>ANALYTICAL STACK</a:t>
            </a:r>
            <a:endParaRPr lang="en-US" sz="1050" dirty="0"/>
          </a:p>
        </p:txBody>
      </p:sp>
      <p:sp>
        <p:nvSpPr>
          <p:cNvPr id="14" name="Text 12"/>
          <p:cNvSpPr/>
          <p:nvPr/>
        </p:nvSpPr>
        <p:spPr>
          <a:xfrm>
            <a:off x="8291900" y="5936159"/>
            <a:ext cx="3442606" cy="538361"/>
          </a:xfrm>
          <a:prstGeom prst="rect">
            <a:avLst/>
          </a:prstGeom>
          <a:noFill/>
          <a:ln/>
        </p:spPr>
        <p:txBody>
          <a:bodyPr wrap="square" lIns="0" tIns="0" rIns="0" bIns="0" rtlCol="0" anchor="t">
            <a:normAutofit/>
          </a:bodyPr>
          <a:lstStyle/>
          <a:p>
            <a:pPr algn="l" indent="0" marL="0">
              <a:lnSpc>
                <a:spcPct val="123000"/>
              </a:lnSpc>
              <a:buNone/>
            </a:pPr>
            <a:r>
              <a:rPr lang="en-US" sz="1450" dirty="0">
                <a:solidFill>
                  <a:srgbClr val="44545A"/>
                </a:solidFill>
                <a:latin typeface="Be Vietnam Pro" pitchFamily="34" charset="0"/>
                <a:ea typeface="Be Vietnam Pro" pitchFamily="34" charset="-122"/>
                <a:cs typeface="Be Vietnam Pro" pitchFamily="34" charset="-120"/>
              </a:rPr>
              <a:t>Data cleaning, feature engineering, and relational queries.</a:t>
            </a:r>
            <a:endParaRPr lang="en-US" sz="1450" dirty="0"/>
          </a:p>
        </p:txBody>
      </p:sp>
      <p:sp>
        <p:nvSpPr>
          <p:cNvPr id="15" name="Text 13"/>
          <p:cNvSpPr/>
          <p:nvPr/>
        </p:nvSpPr>
        <p:spPr>
          <a:xfrm>
            <a:off x="457189" y="6632773"/>
            <a:ext cx="11734506" cy="228203"/>
          </a:xfrm>
          <a:prstGeom prst="rect">
            <a:avLst/>
          </a:prstGeom>
          <a:noFill/>
          <a:ln/>
        </p:spPr>
        <p:txBody>
          <a:bodyPr wrap="none" lIns="0" tIns="0" rIns="0" bIns="0" rtlCol="0" anchor="t"/>
          <a:lstStyle/>
          <a:p>
            <a:pPr algn="l" indent="0" marL="0">
              <a:lnSpc>
                <a:spcPct val="142000"/>
              </a:lnSpc>
              <a:buNone/>
            </a:pPr>
            <a:r>
              <a:rPr lang="en-US" sz="1050" spc="127" kern="100" dirty="0">
                <a:solidFill>
                  <a:srgbClr val="44545A"/>
                </a:solidFill>
                <a:latin typeface="Geist Mono" pitchFamily="34" charset="0"/>
                <a:ea typeface="Geist Mono" pitchFamily="34" charset="-122"/>
                <a:cs typeface="Geist Mono" pitchFamily="34" charset="-120"/>
              </a:rPr>
              <a:t>ANALYTICAL BRIEF · STRATEGIC BUSINESS DECISION FRAMEWORK</a:t>
            </a:r>
            <a:endParaRPr lang="en-US" sz="1050" dirty="0"/>
          </a:p>
        </p:txBody>
      </p:sp>
      <p:sp>
        <p:nvSpPr>
          <p:cNvPr id="16" name="Shape 14"/>
          <p:cNvSpPr/>
          <p:nvPr/>
        </p:nvSpPr>
        <p:spPr>
          <a:xfrm>
            <a:off x="4206770" y="4063008"/>
            <a:ext cx="19050" cy="2411512"/>
          </a:xfrm>
          <a:prstGeom prst="rect">
            <a:avLst/>
          </a:prstGeom>
          <a:solidFill>
            <a:srgbClr val="808080">
              <a:alpha val="35000"/>
            </a:srgbClr>
          </a:solidFill>
          <a:ln/>
        </p:spPr>
      </p:sp>
      <p:sp>
        <p:nvSpPr>
          <p:cNvPr id="17" name="Shape 15"/>
          <p:cNvSpPr/>
          <p:nvPr/>
        </p:nvSpPr>
        <p:spPr>
          <a:xfrm>
            <a:off x="7965876" y="4063008"/>
            <a:ext cx="19050" cy="2411512"/>
          </a:xfrm>
          <a:prstGeom prst="rect">
            <a:avLst/>
          </a:prstGeom>
          <a:solidFill>
            <a:srgbClr val="808080">
              <a:alpha val="35000"/>
            </a:srgbClr>
          </a:solidFill>
          <a:ln/>
        </p:spPr>
      </p:sp>
      <p:sp>
        <p:nvSpPr>
          <p:cNvPr id="18" name="Text 16"/>
          <p:cNvSpPr/>
          <p:nvPr/>
        </p:nvSpPr>
        <p:spPr>
          <a:xfrm>
            <a:off x="11825389" y="6537821"/>
            <a:ext cx="366306" cy="183059"/>
          </a:xfrm>
          <a:prstGeom prst="rect">
            <a:avLst/>
          </a:prstGeom>
          <a:noFill/>
          <a:ln/>
        </p:spPr>
        <p:txBody>
          <a:bodyPr wrap="none" lIns="0" tIns="0" rIns="0" bIns="0" rtlCol="0" anchor="ctr"/>
          <a:lstStyle/>
          <a:p>
            <a:pPr algn="l" indent="0" marL="0">
              <a:lnSpc>
                <a:spcPct val="125000"/>
              </a:lnSpc>
              <a:buNone/>
            </a:pPr>
            <a:r>
              <a:rPr lang="en-US" sz="950" spc="115" kern="100" dirty="0">
                <a:solidFill>
                  <a:srgbClr val="9E2F22"/>
                </a:solidFill>
                <a:latin typeface="Geist Mono" pitchFamily="34" charset="0"/>
                <a:ea typeface="Geist Mono" pitchFamily="34" charset="-122"/>
                <a:cs typeface="Geist Mono" pitchFamily="34" charset="-120"/>
              </a:rPr>
              <a:t>02</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470288" cy="6858000"/>
          </a:xfrm>
          <a:prstGeom prst="rect">
            <a:avLst/>
          </a:prstGeom>
        </p:spPr>
      </p:pic>
      <p:sp>
        <p:nvSpPr>
          <p:cNvPr id="3" name="Text 0"/>
          <p:cNvSpPr/>
          <p:nvPr/>
        </p:nvSpPr>
        <p:spPr>
          <a:xfrm>
            <a:off x="4978275" y="457200"/>
            <a:ext cx="7213420" cy="265410"/>
          </a:xfrm>
          <a:prstGeom prst="rect">
            <a:avLst/>
          </a:prstGeom>
          <a:noFill/>
          <a:ln/>
        </p:spPr>
        <p:txBody>
          <a:bodyPr wrap="none" lIns="0" tIns="0" rIns="0" bIns="0" rtlCol="0" anchor="t"/>
          <a:lstStyle/>
          <a:p>
            <a:pPr algn="l" indent="0" marL="0">
              <a:lnSpc>
                <a:spcPct val="158000"/>
              </a:lnSpc>
              <a:buNone/>
            </a:pPr>
            <a:r>
              <a:rPr lang="en-US" sz="1100" spc="110" kern="100" dirty="0">
                <a:solidFill>
                  <a:srgbClr val="9E2F22"/>
                </a:solidFill>
                <a:latin typeface="Geist Mono" pitchFamily="34" charset="0"/>
                <a:ea typeface="Geist Mono" pitchFamily="34" charset="-122"/>
                <a:cs typeface="Geist Mono" pitchFamily="34" charset="-120"/>
              </a:rPr>
              <a:t>— DATASET OVERVIEW</a:t>
            </a:r>
            <a:endParaRPr lang="en-US" sz="1100" dirty="0"/>
          </a:p>
        </p:txBody>
      </p:sp>
      <p:sp>
        <p:nvSpPr>
          <p:cNvPr id="4" name="Text 1"/>
          <p:cNvSpPr/>
          <p:nvPr/>
        </p:nvSpPr>
        <p:spPr>
          <a:xfrm>
            <a:off x="4978275" y="882174"/>
            <a:ext cx="6654634" cy="1507728"/>
          </a:xfrm>
          <a:prstGeom prst="rect">
            <a:avLst/>
          </a:prstGeom>
          <a:noFill/>
          <a:ln/>
        </p:spPr>
        <p:txBody>
          <a:bodyPr wrap="square" lIns="0" tIns="0" rIns="0" bIns="0" rtlCol="0" anchor="t">
            <a:normAutofit/>
          </a:bodyPr>
          <a:lstStyle/>
          <a:p>
            <a:pPr algn="l" indent="0" marL="0">
              <a:lnSpc>
                <a:spcPct val="88000"/>
              </a:lnSpc>
              <a:buNone/>
            </a:pPr>
            <a:r>
              <a:rPr lang="en-US" sz="5600" dirty="0">
                <a:solidFill>
                  <a:srgbClr val="17222B"/>
                </a:solidFill>
                <a:latin typeface="Noto Serif Display Light" pitchFamily="34" charset="0"/>
                <a:ea typeface="Noto Serif Display Light" pitchFamily="34" charset="-122"/>
                <a:cs typeface="Noto Serif Display Light" pitchFamily="34" charset="-120"/>
              </a:rPr>
              <a:t>DATASET SUMMARY</a:t>
            </a:r>
            <a:endParaRPr lang="en-US" sz="5600" dirty="0"/>
          </a:p>
        </p:txBody>
      </p:sp>
      <p:sp>
        <p:nvSpPr>
          <p:cNvPr id="5" name="Shape 2"/>
          <p:cNvSpPr/>
          <p:nvPr/>
        </p:nvSpPr>
        <p:spPr>
          <a:xfrm>
            <a:off x="4978275" y="2731591"/>
            <a:ext cx="831730" cy="12601"/>
          </a:xfrm>
          <a:prstGeom prst="roundRect">
            <a:avLst>
              <a:gd name="adj" fmla="val 49998"/>
            </a:avLst>
          </a:prstGeom>
          <a:solidFill>
            <a:srgbClr val="9E2F22"/>
          </a:solidFill>
          <a:ln/>
        </p:spPr>
      </p:sp>
      <p:sp>
        <p:nvSpPr>
          <p:cNvPr id="6" name="Text 3"/>
          <p:cNvSpPr/>
          <p:nvPr/>
        </p:nvSpPr>
        <p:spPr>
          <a:xfrm>
            <a:off x="4978275" y="3150295"/>
            <a:ext cx="6654634" cy="2428875"/>
          </a:xfrm>
          <a:prstGeom prst="rect">
            <a:avLst/>
          </a:prstGeom>
          <a:noFill/>
          <a:ln/>
        </p:spPr>
        <p:txBody>
          <a:bodyPr wrap="square" lIns="0" tIns="0" rIns="0" bIns="0" rtlCol="0" anchor="t">
            <a:normAutofit/>
          </a:bodyPr>
          <a:lstStyle/>
          <a:p>
            <a:pPr algn="l" marL="304800" indent="-304800">
              <a:lnSpc>
                <a:spcPct val="125000"/>
              </a:lnSpc>
              <a:buSzPct val="100000"/>
              <a:buChar char="•"/>
            </a:pPr>
            <a:r>
              <a:rPr lang="en-US" sz="1500" dirty="0">
                <a:solidFill>
                  <a:srgbClr val="17222B"/>
                </a:solidFill>
                <a:latin typeface="Be Vietnam Pro" pitchFamily="34" charset="0"/>
                <a:ea typeface="Be Vietnam Pro" pitchFamily="34" charset="-122"/>
                <a:cs typeface="Be Vietnam Pro" pitchFamily="34" charset="-120"/>
              </a:rPr>
              <a:t>Rows: 3,900</a:t>
            </a:r>
            <a:endParaRPr lang="en-US" sz="1500" dirty="0"/>
          </a:p>
          <a:p>
            <a:pPr algn="l" marL="304800" indent="-304800">
              <a:lnSpc>
                <a:spcPct val="125000"/>
              </a:lnSpc>
              <a:buSzPct val="100000"/>
              <a:buChar char="•"/>
            </a:pPr>
            <a:r>
              <a:rPr lang="en-US" sz="1500" dirty="0">
                <a:solidFill>
                  <a:srgbClr val="17222B"/>
                </a:solidFill>
                <a:latin typeface="Be Vietnam Pro" pitchFamily="34" charset="0"/>
                <a:ea typeface="Be Vietnam Pro" pitchFamily="34" charset="-122"/>
                <a:cs typeface="Be Vietnam Pro" pitchFamily="34" charset="-120"/>
              </a:rPr>
              <a:t>Columns: 18</a:t>
            </a:r>
            <a:endParaRPr lang="en-US" sz="1500" dirty="0"/>
          </a:p>
          <a:p>
            <a:pPr algn="l" marL="304800" indent="-304800">
              <a:lnSpc>
                <a:spcPct val="125000"/>
              </a:lnSpc>
              <a:buSzPct val="100000"/>
              <a:buChar char="•"/>
            </a:pPr>
            <a:r>
              <a:rPr lang="en-US" sz="1500" dirty="0">
                <a:solidFill>
                  <a:srgbClr val="17222B"/>
                </a:solidFill>
                <a:latin typeface="Be Vietnam Pro" pitchFamily="34" charset="0"/>
                <a:ea typeface="Be Vietnam Pro" pitchFamily="34" charset="-122"/>
                <a:cs typeface="Be Vietnam Pro" pitchFamily="34" charset="-120"/>
              </a:rPr>
              <a:t>Key features: customer demographics (Age, Gender, Location, Subscription Status); purchase details (Item Purchased, Category, Purchase Amount, Season, Size, Color); shopping behavior (Discount Applied, Promo Code Used, Previous Purchases, Frequency of Purchases, Review Rating, Shipping Type)</a:t>
            </a:r>
            <a:endParaRPr lang="en-US" sz="1500" dirty="0"/>
          </a:p>
          <a:p>
            <a:pPr algn="l" marL="304800" indent="-304800">
              <a:lnSpc>
                <a:spcPct val="125000"/>
              </a:lnSpc>
              <a:buSzPct val="100000"/>
              <a:buChar char="•"/>
            </a:pPr>
            <a:r>
              <a:rPr lang="en-US" sz="1500" dirty="0">
                <a:solidFill>
                  <a:srgbClr val="17222B"/>
                </a:solidFill>
                <a:latin typeface="Be Vietnam Pro" pitchFamily="34" charset="0"/>
                <a:ea typeface="Be Vietnam Pro" pitchFamily="34" charset="-122"/>
                <a:cs typeface="Be Vietnam Pro" pitchFamily="34" charset="-120"/>
              </a:rPr>
              <a:t>Missing data: 37 values in Review Rating column</a:t>
            </a:r>
            <a:endParaRPr lang="en-US" sz="1500" dirty="0"/>
          </a:p>
        </p:txBody>
      </p:sp>
      <p:sp>
        <p:nvSpPr>
          <p:cNvPr id="7" name="Text 4"/>
          <p:cNvSpPr/>
          <p:nvPr/>
        </p:nvSpPr>
        <p:spPr>
          <a:xfrm>
            <a:off x="4978275" y="6214170"/>
            <a:ext cx="7213420" cy="237430"/>
          </a:xfrm>
          <a:prstGeom prst="rect">
            <a:avLst/>
          </a:prstGeom>
          <a:noFill/>
          <a:ln/>
        </p:spPr>
        <p:txBody>
          <a:bodyPr wrap="none" lIns="0" tIns="0" rIns="0" bIns="0" rtlCol="0" anchor="t"/>
          <a:lstStyle/>
          <a:p>
            <a:pPr algn="l" indent="0" marL="0">
              <a:lnSpc>
                <a:spcPct val="142000"/>
              </a:lnSpc>
              <a:buNone/>
            </a:pPr>
            <a:r>
              <a:rPr lang="en-US" sz="1100" spc="132" kern="100" dirty="0">
                <a:solidFill>
                  <a:srgbClr val="44545A"/>
                </a:solidFill>
                <a:latin typeface="Geist Mono" pitchFamily="34" charset="0"/>
                <a:ea typeface="Geist Mono" pitchFamily="34" charset="-122"/>
                <a:cs typeface="Geist Mono" pitchFamily="34" charset="-120"/>
              </a:rPr>
              <a:t>SUMMARY SPECIFICATIONS · 3,900 PURCHASES · 18 FEATURES</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189" y="457200"/>
            <a:ext cx="11734506" cy="265410"/>
          </a:xfrm>
          <a:prstGeom prst="rect">
            <a:avLst/>
          </a:prstGeom>
          <a:noFill/>
          <a:ln/>
        </p:spPr>
        <p:txBody>
          <a:bodyPr wrap="none" lIns="0" tIns="0" rIns="0" bIns="0" rtlCol="0" anchor="t"/>
          <a:lstStyle/>
          <a:p>
            <a:pPr algn="l" indent="0" marL="0">
              <a:lnSpc>
                <a:spcPct val="158000"/>
              </a:lnSpc>
              <a:buNone/>
            </a:pPr>
            <a:r>
              <a:rPr lang="en-US" sz="1100" spc="110" kern="100" dirty="0">
                <a:solidFill>
                  <a:srgbClr val="9E2F22"/>
                </a:solidFill>
                <a:latin typeface="Geist Mono" pitchFamily="34" charset="0"/>
                <a:ea typeface="Geist Mono" pitchFamily="34" charset="-122"/>
                <a:cs typeface="Geist Mono" pitchFamily="34" charset="-120"/>
              </a:rPr>
              <a:t>— DATA PREPARATION &amp; PIPELINE</a:t>
            </a:r>
            <a:endParaRPr lang="en-US" sz="1100" dirty="0"/>
          </a:p>
        </p:txBody>
      </p:sp>
      <p:sp>
        <p:nvSpPr>
          <p:cNvPr id="3" name="Text 1"/>
          <p:cNvSpPr/>
          <p:nvPr/>
        </p:nvSpPr>
        <p:spPr>
          <a:xfrm>
            <a:off x="457189" y="882174"/>
            <a:ext cx="11277318" cy="1507728"/>
          </a:xfrm>
          <a:prstGeom prst="rect">
            <a:avLst/>
          </a:prstGeom>
          <a:noFill/>
          <a:ln/>
        </p:spPr>
        <p:txBody>
          <a:bodyPr wrap="square" lIns="0" tIns="0" rIns="0" bIns="0" rtlCol="0" anchor="t">
            <a:normAutofit/>
          </a:bodyPr>
          <a:lstStyle/>
          <a:p>
            <a:pPr algn="l" indent="0" marL="0">
              <a:lnSpc>
                <a:spcPct val="88000"/>
              </a:lnSpc>
              <a:buNone/>
            </a:pPr>
            <a:r>
              <a:rPr lang="en-US" sz="5600" dirty="0">
                <a:solidFill>
                  <a:srgbClr val="17222B"/>
                </a:solidFill>
                <a:latin typeface="Noto Serif Display Light" pitchFamily="34" charset="0"/>
                <a:ea typeface="Noto Serif Display Light" pitchFamily="34" charset="-122"/>
                <a:cs typeface="Noto Serif Display Light" pitchFamily="34" charset="-120"/>
              </a:rPr>
              <a:t>EXPLORATORY DATA ANALYSIS USING PYTHON</a:t>
            </a:r>
            <a:endParaRPr lang="en-US" sz="5600" dirty="0"/>
          </a:p>
        </p:txBody>
      </p:sp>
      <p:sp>
        <p:nvSpPr>
          <p:cNvPr id="4" name="Shape 2"/>
          <p:cNvSpPr/>
          <p:nvPr/>
        </p:nvSpPr>
        <p:spPr>
          <a:xfrm>
            <a:off x="457189" y="2731591"/>
            <a:ext cx="1409665" cy="12601"/>
          </a:xfrm>
          <a:prstGeom prst="roundRect">
            <a:avLst>
              <a:gd name="adj" fmla="val 49998"/>
            </a:avLst>
          </a:prstGeom>
          <a:solidFill>
            <a:srgbClr val="9E2F22"/>
          </a:solidFill>
          <a:ln/>
        </p:spPr>
      </p:sp>
      <p:sp>
        <p:nvSpPr>
          <p:cNvPr id="5" name="Text 3"/>
          <p:cNvSpPr/>
          <p:nvPr/>
        </p:nvSpPr>
        <p:spPr>
          <a:xfrm>
            <a:off x="457189" y="3150295"/>
            <a:ext cx="11277318" cy="3143250"/>
          </a:xfrm>
          <a:prstGeom prst="rect">
            <a:avLst/>
          </a:prstGeom>
          <a:noFill/>
          <a:ln/>
        </p:spPr>
        <p:txBody>
          <a:bodyPr wrap="square" lIns="0" tIns="0" rIns="0" bIns="0" rtlCol="0" anchor="t">
            <a:normAutofit/>
          </a:bodyPr>
          <a:lstStyle/>
          <a:p>
            <a:pPr algn="l" marL="304800" indent="-304800">
              <a:lnSpc>
                <a:spcPct val="125000"/>
              </a:lnSpc>
              <a:buSzPct val="100000"/>
              <a:buChar char="•"/>
            </a:pPr>
            <a:r>
              <a:rPr lang="en-US" sz="1500" dirty="0">
                <a:solidFill>
                  <a:srgbClr val="17222B"/>
                </a:solidFill>
                <a:latin typeface="Be Vietnam Pro" pitchFamily="34" charset="0"/>
                <a:ea typeface="Be Vietnam Pro" pitchFamily="34" charset="-122"/>
                <a:cs typeface="Be Vietnam Pro" pitchFamily="34" charset="-120"/>
              </a:rPr>
              <a:t>Data loading: imported the dataset using pandas</a:t>
            </a:r>
            <a:endParaRPr lang="en-US" sz="1500" dirty="0"/>
          </a:p>
          <a:p>
            <a:pPr algn="l" marL="304800" indent="-304800">
              <a:lnSpc>
                <a:spcPct val="125000"/>
              </a:lnSpc>
              <a:buSzPct val="100000"/>
              <a:buChar char="•"/>
            </a:pPr>
            <a:r>
              <a:rPr lang="en-US" sz="1500" dirty="0">
                <a:solidFill>
                  <a:srgbClr val="17222B"/>
                </a:solidFill>
                <a:latin typeface="Be Vietnam Pro" pitchFamily="34" charset="0"/>
                <a:ea typeface="Be Vietnam Pro" pitchFamily="34" charset="-122"/>
                <a:cs typeface="Be Vietnam Pro" pitchFamily="34" charset="-120"/>
              </a:rPr>
              <a:t>Initial exploration: used df.info() to check structure and .describe() for summary statistics</a:t>
            </a:r>
            <a:endParaRPr lang="en-US" sz="1500" dirty="0"/>
          </a:p>
          <a:p>
            <a:pPr algn="l" marL="304800" indent="-304800">
              <a:lnSpc>
                <a:spcPct val="125000"/>
              </a:lnSpc>
              <a:buSzPct val="100000"/>
              <a:buChar char="•"/>
            </a:pPr>
            <a:r>
              <a:rPr lang="en-US" sz="1500" dirty="0">
                <a:solidFill>
                  <a:srgbClr val="17222B"/>
                </a:solidFill>
                <a:latin typeface="Be Vietnam Pro" pitchFamily="34" charset="0"/>
                <a:ea typeface="Be Vietnam Pro" pitchFamily="34" charset="-122"/>
                <a:cs typeface="Be Vietnam Pro" pitchFamily="34" charset="-120"/>
              </a:rPr>
              <a:t>Missing data handling: imputed missing Review Rating values using the median rating of each product category</a:t>
            </a:r>
            <a:endParaRPr lang="en-US" sz="1500" dirty="0"/>
          </a:p>
          <a:p>
            <a:pPr algn="l" marL="304800" indent="-304800">
              <a:lnSpc>
                <a:spcPct val="125000"/>
              </a:lnSpc>
              <a:buSzPct val="100000"/>
              <a:buChar char="•"/>
            </a:pPr>
            <a:r>
              <a:rPr lang="en-US" sz="1500" dirty="0">
                <a:solidFill>
                  <a:srgbClr val="17222B"/>
                </a:solidFill>
                <a:latin typeface="Be Vietnam Pro" pitchFamily="34" charset="0"/>
                <a:ea typeface="Be Vietnam Pro" pitchFamily="34" charset="-122"/>
                <a:cs typeface="Be Vietnam Pro" pitchFamily="34" charset="-120"/>
              </a:rPr>
              <a:t>Column standardization: renamed columns to snake_case for better readability and documentation</a:t>
            </a:r>
            <a:endParaRPr lang="en-US" sz="1500" dirty="0"/>
          </a:p>
          <a:p>
            <a:pPr algn="l" marL="304800" indent="-304800">
              <a:lnSpc>
                <a:spcPct val="125000"/>
              </a:lnSpc>
              <a:buSzPct val="100000"/>
              <a:buChar char="•"/>
            </a:pPr>
            <a:r>
              <a:rPr lang="en-US" sz="1500" dirty="0">
                <a:solidFill>
                  <a:srgbClr val="17222B"/>
                </a:solidFill>
                <a:latin typeface="Be Vietnam Pro" pitchFamily="34" charset="0"/>
                <a:ea typeface="Be Vietnam Pro" pitchFamily="34" charset="-122"/>
                <a:cs typeface="Be Vietnam Pro" pitchFamily="34" charset="-120"/>
              </a:rPr>
              <a:t>Feature engineering: created age_group by binning customer ages and purchase_frequency_days from purchase data</a:t>
            </a:r>
            <a:endParaRPr lang="en-US" sz="1500" dirty="0"/>
          </a:p>
          <a:p>
            <a:pPr algn="l" marL="304800" indent="-304800">
              <a:lnSpc>
                <a:spcPct val="125000"/>
              </a:lnSpc>
              <a:buSzPct val="100000"/>
              <a:buChar char="•"/>
            </a:pPr>
            <a:r>
              <a:rPr lang="en-US" sz="1500" dirty="0">
                <a:solidFill>
                  <a:srgbClr val="17222B"/>
                </a:solidFill>
                <a:latin typeface="Be Vietnam Pro" pitchFamily="34" charset="0"/>
                <a:ea typeface="Be Vietnam Pro" pitchFamily="34" charset="-122"/>
                <a:cs typeface="Be Vietnam Pro" pitchFamily="34" charset="-120"/>
              </a:rPr>
              <a:t>Data consistency: checked whether discount_applied and promo_code_used were redundant; dropped promo_code_used</a:t>
            </a:r>
            <a:endParaRPr lang="en-US" sz="1500" dirty="0"/>
          </a:p>
          <a:p>
            <a:pPr algn="l" marL="304800" indent="-304800">
              <a:lnSpc>
                <a:spcPct val="125000"/>
              </a:lnSpc>
              <a:buSzPct val="100000"/>
              <a:buChar char="•"/>
            </a:pPr>
            <a:r>
              <a:rPr lang="en-US" sz="1500" dirty="0">
                <a:solidFill>
                  <a:srgbClr val="17222B"/>
                </a:solidFill>
                <a:latin typeface="Be Vietnam Pro" pitchFamily="34" charset="0"/>
                <a:ea typeface="Be Vietnam Pro" pitchFamily="34" charset="-122"/>
                <a:cs typeface="Be Vietnam Pro" pitchFamily="34" charset="-120"/>
              </a:rPr>
              <a:t>Database integration: connected Python script to PostgreSQL and loaded the cleaned DataFrame into the database for SQL analysis</a:t>
            </a:r>
            <a:endParaRPr lang="en-US" sz="1500" dirty="0"/>
          </a:p>
        </p:txBody>
      </p:sp>
      <p:sp>
        <p:nvSpPr>
          <p:cNvPr id="6" name="Text 4"/>
          <p:cNvSpPr/>
          <p:nvPr/>
        </p:nvSpPr>
        <p:spPr>
          <a:xfrm>
            <a:off x="457189" y="6464995"/>
            <a:ext cx="11734506" cy="237430"/>
          </a:xfrm>
          <a:prstGeom prst="rect">
            <a:avLst/>
          </a:prstGeom>
          <a:noFill/>
          <a:ln/>
        </p:spPr>
        <p:txBody>
          <a:bodyPr wrap="none" lIns="0" tIns="0" rIns="0" bIns="0" rtlCol="0" anchor="t"/>
          <a:lstStyle/>
          <a:p>
            <a:pPr algn="l" indent="0" marL="0">
              <a:lnSpc>
                <a:spcPct val="142000"/>
              </a:lnSpc>
              <a:buNone/>
            </a:pPr>
            <a:r>
              <a:rPr lang="en-US" sz="1100" spc="132" kern="100" dirty="0">
                <a:solidFill>
                  <a:srgbClr val="44545A"/>
                </a:solidFill>
                <a:latin typeface="Geist Mono" pitchFamily="34" charset="0"/>
                <a:ea typeface="Geist Mono" pitchFamily="34" charset="-122"/>
                <a:cs typeface="Geist Mono" pitchFamily="34" charset="-120"/>
              </a:rPr>
              <a:t>PYTHON WORKFLOW · PANDAS TRANSFORMATION TO POSTGRESQL RELATIONAL SCHEMA</a:t>
            </a:r>
            <a:endParaRPr lang="en-US" sz="1100" dirty="0"/>
          </a:p>
        </p:txBody>
      </p:sp>
      <p:sp>
        <p:nvSpPr>
          <p:cNvPr id="7" name="Text 5"/>
          <p:cNvSpPr/>
          <p:nvPr/>
        </p:nvSpPr>
        <p:spPr>
          <a:xfrm>
            <a:off x="11818047" y="6534150"/>
            <a:ext cx="373648" cy="190500"/>
          </a:xfrm>
          <a:prstGeom prst="rect">
            <a:avLst/>
          </a:prstGeom>
          <a:noFill/>
          <a:ln/>
        </p:spPr>
        <p:txBody>
          <a:bodyPr wrap="none" lIns="0" tIns="0" rIns="0" bIns="0" rtlCol="0" anchor="ctr"/>
          <a:lstStyle/>
          <a:p>
            <a:pPr algn="l" indent="0" marL="0">
              <a:lnSpc>
                <a:spcPct val="125000"/>
              </a:lnSpc>
              <a:buNone/>
            </a:pPr>
            <a:r>
              <a:rPr lang="en-US" sz="1000" spc="120" kern="100" dirty="0">
                <a:solidFill>
                  <a:srgbClr val="9E2F22"/>
                </a:solidFill>
                <a:latin typeface="Geist Mono" pitchFamily="34" charset="0"/>
                <a:ea typeface="Geist Mono" pitchFamily="34" charset="-122"/>
                <a:cs typeface="Geist Mono" pitchFamily="34" charset="-120"/>
              </a:rPr>
              <a:t>04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189" y="457200"/>
            <a:ext cx="11734506" cy="265410"/>
          </a:xfrm>
          <a:prstGeom prst="rect">
            <a:avLst/>
          </a:prstGeom>
          <a:noFill/>
          <a:ln/>
        </p:spPr>
        <p:txBody>
          <a:bodyPr wrap="none" lIns="0" tIns="0" rIns="0" bIns="0" rtlCol="0" anchor="t"/>
          <a:lstStyle/>
          <a:p>
            <a:pPr algn="l" indent="0" marL="0">
              <a:lnSpc>
                <a:spcPct val="158000"/>
              </a:lnSpc>
              <a:buNone/>
            </a:pPr>
            <a:r>
              <a:rPr lang="en-US" sz="1100" spc="110" kern="100" dirty="0">
                <a:solidFill>
                  <a:srgbClr val="9E2F22"/>
                </a:solidFill>
                <a:latin typeface="Geist Mono" pitchFamily="34" charset="0"/>
                <a:ea typeface="Geist Mono" pitchFamily="34" charset="-122"/>
                <a:cs typeface="Geist Mono" pitchFamily="34" charset="-120"/>
              </a:rPr>
              <a:t>— SQL ANALYSIS 01 · GENDER BREAKDOWN</a:t>
            </a:r>
            <a:endParaRPr lang="en-US" sz="1100" dirty="0"/>
          </a:p>
        </p:txBody>
      </p:sp>
      <p:sp>
        <p:nvSpPr>
          <p:cNvPr id="3" name="Text 1"/>
          <p:cNvSpPr/>
          <p:nvPr/>
        </p:nvSpPr>
        <p:spPr>
          <a:xfrm>
            <a:off x="457189" y="882174"/>
            <a:ext cx="11277318" cy="753864"/>
          </a:xfrm>
          <a:prstGeom prst="rect">
            <a:avLst/>
          </a:prstGeom>
          <a:noFill/>
          <a:ln/>
        </p:spPr>
        <p:txBody>
          <a:bodyPr wrap="none" lIns="0" tIns="0" rIns="0" bIns="0" rtlCol="0" anchor="t"/>
          <a:lstStyle/>
          <a:p>
            <a:pPr algn="l" indent="0" marL="0">
              <a:lnSpc>
                <a:spcPct val="88000"/>
              </a:lnSpc>
              <a:buNone/>
            </a:pPr>
            <a:r>
              <a:rPr lang="en-US" sz="5600" dirty="0">
                <a:solidFill>
                  <a:srgbClr val="17222B"/>
                </a:solidFill>
                <a:latin typeface="Noto Serif Display Light" pitchFamily="34" charset="0"/>
                <a:ea typeface="Noto Serif Display Light" pitchFamily="34" charset="-122"/>
                <a:cs typeface="Noto Serif Display Light" pitchFamily="34" charset="-120"/>
              </a:rPr>
              <a:t>REVENUE BY GENDER</a:t>
            </a:r>
            <a:endParaRPr lang="en-US" sz="5600" dirty="0"/>
          </a:p>
        </p:txBody>
      </p:sp>
      <p:sp>
        <p:nvSpPr>
          <p:cNvPr id="4" name="Shape 2"/>
          <p:cNvSpPr/>
          <p:nvPr/>
        </p:nvSpPr>
        <p:spPr>
          <a:xfrm>
            <a:off x="457189" y="2029023"/>
            <a:ext cx="1409665" cy="12601"/>
          </a:xfrm>
          <a:prstGeom prst="roundRect">
            <a:avLst>
              <a:gd name="adj" fmla="val 49998"/>
            </a:avLst>
          </a:prstGeom>
          <a:solidFill>
            <a:srgbClr val="9E2F22"/>
          </a:solidFill>
          <a:ln/>
        </p:spPr>
      </p:sp>
      <p:sp>
        <p:nvSpPr>
          <p:cNvPr id="5" name="Text 3"/>
          <p:cNvSpPr/>
          <p:nvPr/>
        </p:nvSpPr>
        <p:spPr>
          <a:xfrm>
            <a:off x="457189" y="2447727"/>
            <a:ext cx="11734506" cy="285750"/>
          </a:xfrm>
          <a:prstGeom prst="rect">
            <a:avLst/>
          </a:prstGeom>
          <a:noFill/>
          <a:ln/>
        </p:spPr>
        <p:txBody>
          <a:bodyPr wrap="none" lIns="0" tIns="0" rIns="0" bIns="0" rtlCol="0" anchor="t"/>
          <a:lstStyle/>
          <a:p>
            <a:pPr algn="l" indent="0" marL="0">
              <a:lnSpc>
                <a:spcPct val="125000"/>
              </a:lnSpc>
              <a:buNone/>
            </a:pPr>
            <a:r>
              <a:rPr lang="en-US" sz="1500" dirty="0">
                <a:solidFill>
                  <a:srgbClr val="17222B"/>
                </a:solidFill>
                <a:latin typeface="Be Vietnam Pro" pitchFamily="34" charset="0"/>
                <a:ea typeface="Be Vietnam Pro" pitchFamily="34" charset="-122"/>
                <a:cs typeface="Be Vietnam Pro" pitchFamily="34" charset="-120"/>
              </a:rPr>
              <a:t>Compared total revenue generated by male vs. female customers.</a:t>
            </a:r>
            <a:endParaRPr lang="en-US" sz="1500" dirty="0"/>
          </a:p>
        </p:txBody>
      </p:sp>
      <p:sp>
        <p:nvSpPr>
          <p:cNvPr id="6" name="Text 4"/>
          <p:cNvSpPr/>
          <p:nvPr/>
        </p:nvSpPr>
        <p:spPr>
          <a:xfrm>
            <a:off x="457189" y="3123307"/>
            <a:ext cx="3792046" cy="711200"/>
          </a:xfrm>
          <a:prstGeom prst="rect">
            <a:avLst/>
          </a:prstGeom>
          <a:noFill/>
          <a:ln/>
        </p:spPr>
        <p:txBody>
          <a:bodyPr wrap="none" lIns="0" tIns="0" rIns="0" bIns="0" rtlCol="0" anchor="t"/>
          <a:lstStyle/>
          <a:p>
            <a:pPr algn="l" indent="0" marL="0">
              <a:lnSpc>
                <a:spcPct val="83000"/>
              </a:lnSpc>
              <a:buNone/>
            </a:pPr>
            <a:r>
              <a:rPr lang="en-US" sz="5600" dirty="0">
                <a:solidFill>
                  <a:srgbClr val="9E2F22"/>
                </a:solidFill>
                <a:latin typeface="Noto Serif Display Light" pitchFamily="34" charset="0"/>
                <a:ea typeface="Noto Serif Display Light" pitchFamily="34" charset="-122"/>
                <a:cs typeface="Noto Serif Display Light" pitchFamily="34" charset="-120"/>
              </a:rPr>
              <a:t>$233,081</a:t>
            </a:r>
            <a:endParaRPr lang="en-US" sz="5600" dirty="0"/>
          </a:p>
        </p:txBody>
      </p:sp>
      <p:sp>
        <p:nvSpPr>
          <p:cNvPr id="7" name="Text 5"/>
          <p:cNvSpPr/>
          <p:nvPr/>
        </p:nvSpPr>
        <p:spPr>
          <a:xfrm>
            <a:off x="457189" y="3857208"/>
            <a:ext cx="3792046" cy="1439863"/>
          </a:xfrm>
          <a:prstGeom prst="rect">
            <a:avLst/>
          </a:prstGeom>
          <a:noFill/>
          <a:ln/>
        </p:spPr>
        <p:txBody>
          <a:bodyPr wrap="square" lIns="0" tIns="0" rIns="0" bIns="0" rtlCol="0" anchor="t">
            <a:normAutofit/>
          </a:bodyPr>
          <a:lstStyle/>
          <a:p>
            <a:pPr algn="l" indent="0" marL="0">
              <a:lnSpc>
                <a:spcPct val="113000"/>
              </a:lnSpc>
              <a:buNone/>
            </a:pPr>
            <a:r>
              <a:rPr lang="en-US" sz="2100" i="1" spc="21" kern="100" dirty="0">
                <a:solidFill>
                  <a:srgbClr val="44545A"/>
                </a:solidFill>
                <a:latin typeface="Be Vietnam Pro Medium" pitchFamily="34" charset="0"/>
                <a:ea typeface="Be Vietnam Pro Medium" pitchFamily="34" charset="-122"/>
                <a:cs typeface="Be Vietnam Pro Medium" pitchFamily="34" charset="-120"/>
              </a:rPr>
              <a:t>Male customers generated more total revenue than female customers in this dataset.</a:t>
            </a:r>
            <a:endParaRPr lang="en-US" sz="2100" dirty="0"/>
          </a:p>
        </p:txBody>
      </p:sp>
      <p:sp>
        <p:nvSpPr>
          <p:cNvPr id="8" name="Text 6"/>
          <p:cNvSpPr/>
          <p:nvPr/>
        </p:nvSpPr>
        <p:spPr>
          <a:xfrm>
            <a:off x="457189" y="5423595"/>
            <a:ext cx="3792046" cy="857250"/>
          </a:xfrm>
          <a:prstGeom prst="rect">
            <a:avLst/>
          </a:prstGeom>
          <a:noFill/>
          <a:ln/>
        </p:spPr>
        <p:txBody>
          <a:bodyPr wrap="square" lIns="0" tIns="0" rIns="0" bIns="0" rtlCol="0" anchor="t">
            <a:normAutofit/>
          </a:bodyPr>
          <a:lstStyle/>
          <a:p>
            <a:pPr algn="l" indent="0" marL="0">
              <a:lnSpc>
                <a:spcPct val="125000"/>
              </a:lnSpc>
              <a:buNone/>
            </a:pPr>
            <a:r>
              <a:rPr lang="en-US" sz="1500" dirty="0">
                <a:solidFill>
                  <a:srgbClr val="44545A"/>
                </a:solidFill>
                <a:latin typeface="Be Vietnam Pro" pitchFamily="34" charset="0"/>
                <a:ea typeface="Be Vietnam Pro" pitchFamily="34" charset="-122"/>
                <a:cs typeface="Be Vietnam Pro" pitchFamily="34" charset="-120"/>
              </a:rPr>
              <a:t>Reported revenue was $157,890 for male customers and $75,191 for female customers.</a:t>
            </a:r>
            <a:endParaRPr lang="en-US" sz="1500" dirty="0"/>
          </a:p>
        </p:txBody>
      </p:sp>
      <p:pic>
        <p:nvPicPr>
          <p:cNvPr id="9" name="Image 0" descr="preencoded.png">    </p:cNvPr>
          <p:cNvPicPr>
            <a:picLocks noChangeAspect="1"/>
          </p:cNvPicPr>
          <p:nvPr/>
        </p:nvPicPr>
        <p:blipFill>
          <a:blip r:embed="rId1"/>
          <a:stretch>
            <a:fillRect/>
          </a:stretch>
        </p:blipFill>
        <p:spPr>
          <a:xfrm>
            <a:off x="4935017" y="3098998"/>
            <a:ext cx="6603835" cy="2794000"/>
          </a:xfrm>
          <a:prstGeom prst="rect">
            <a:avLst/>
          </a:prstGeom>
        </p:spPr>
      </p:pic>
      <p:sp>
        <p:nvSpPr>
          <p:cNvPr id="10" name="Text 7"/>
          <p:cNvSpPr/>
          <p:nvPr/>
        </p:nvSpPr>
        <p:spPr>
          <a:xfrm>
            <a:off x="4935017" y="5969198"/>
            <a:ext cx="6799489" cy="237430"/>
          </a:xfrm>
          <a:prstGeom prst="rect">
            <a:avLst/>
          </a:prstGeom>
          <a:noFill/>
          <a:ln/>
        </p:spPr>
        <p:txBody>
          <a:bodyPr wrap="none" lIns="0" tIns="0" rIns="0" bIns="0" rtlCol="0" anchor="t"/>
          <a:lstStyle/>
          <a:p>
            <a:pPr algn="l" indent="0" marL="0">
              <a:lnSpc>
                <a:spcPct val="142000"/>
              </a:lnSpc>
              <a:buNone/>
            </a:pPr>
            <a:r>
              <a:rPr lang="en-US" sz="1100" spc="132" kern="100" dirty="0">
                <a:solidFill>
                  <a:srgbClr val="44545A"/>
                </a:solidFill>
                <a:latin typeface="Geist Mono" pitchFamily="34" charset="0"/>
                <a:ea typeface="Geist Mono" pitchFamily="34" charset="-122"/>
                <a:cs typeface="Geist Mono" pitchFamily="34" charset="-120"/>
              </a:rPr>
              <a:t>REVENUE TOTALS IN USD · 3,900 TRANSACTION RECORDS</a:t>
            </a:r>
            <a:endParaRPr lang="en-US" sz="1100" dirty="0"/>
          </a:p>
        </p:txBody>
      </p:sp>
      <p:sp>
        <p:nvSpPr>
          <p:cNvPr id="11" name="Shape 8"/>
          <p:cNvSpPr/>
          <p:nvPr/>
        </p:nvSpPr>
        <p:spPr>
          <a:xfrm>
            <a:off x="4576251" y="2904927"/>
            <a:ext cx="31749" cy="3495873"/>
          </a:xfrm>
          <a:prstGeom prst="rect">
            <a:avLst/>
          </a:prstGeom>
          <a:solidFill>
            <a:srgbClr val="808080">
              <a:alpha val="35000"/>
            </a:srgbClr>
          </a:solidFill>
          <a:ln/>
        </p:spPr>
      </p:sp>
      <p:sp>
        <p:nvSpPr>
          <p:cNvPr id="12" name="Text 9"/>
          <p:cNvSpPr/>
          <p:nvPr/>
        </p:nvSpPr>
        <p:spPr>
          <a:xfrm>
            <a:off x="11818047" y="6534150"/>
            <a:ext cx="373648" cy="190500"/>
          </a:xfrm>
          <a:prstGeom prst="rect">
            <a:avLst/>
          </a:prstGeom>
          <a:noFill/>
          <a:ln/>
        </p:spPr>
        <p:txBody>
          <a:bodyPr wrap="none" lIns="0" tIns="0" rIns="0" bIns="0" rtlCol="0" anchor="ctr"/>
          <a:lstStyle/>
          <a:p>
            <a:pPr algn="l" indent="0" marL="0">
              <a:lnSpc>
                <a:spcPct val="125000"/>
              </a:lnSpc>
              <a:buNone/>
            </a:pPr>
            <a:r>
              <a:rPr lang="en-US" sz="1000" spc="120" kern="100" dirty="0">
                <a:solidFill>
                  <a:srgbClr val="9E2F22"/>
                </a:solidFill>
                <a:latin typeface="Geist Mono" pitchFamily="34" charset="0"/>
                <a:ea typeface="Geist Mono" pitchFamily="34" charset="-122"/>
                <a:cs typeface="Geist Mono" pitchFamily="34" charset="-120"/>
              </a:rPr>
              <a:t>05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189" y="457200"/>
            <a:ext cx="11734506" cy="265410"/>
          </a:xfrm>
          <a:prstGeom prst="rect">
            <a:avLst/>
          </a:prstGeom>
          <a:noFill/>
          <a:ln/>
        </p:spPr>
        <p:txBody>
          <a:bodyPr wrap="none" lIns="0" tIns="0" rIns="0" bIns="0" rtlCol="0" anchor="t"/>
          <a:lstStyle/>
          <a:p>
            <a:pPr algn="l" indent="0" marL="0">
              <a:lnSpc>
                <a:spcPct val="158000"/>
              </a:lnSpc>
              <a:buNone/>
            </a:pPr>
            <a:r>
              <a:rPr lang="en-US" sz="1100" spc="110" kern="100" dirty="0">
                <a:solidFill>
                  <a:srgbClr val="9E2F22"/>
                </a:solidFill>
                <a:latin typeface="Geist Mono" pitchFamily="34" charset="0"/>
                <a:ea typeface="Geist Mono" pitchFamily="34" charset="-122"/>
                <a:cs typeface="Geist Mono" pitchFamily="34" charset="-120"/>
              </a:rPr>
              <a:t>— SQL ANALYSIS 02 · PROMOTIONAL BEHAVIOR</a:t>
            </a:r>
            <a:endParaRPr lang="en-US" sz="1100" dirty="0"/>
          </a:p>
        </p:txBody>
      </p:sp>
      <p:sp>
        <p:nvSpPr>
          <p:cNvPr id="3" name="Text 1"/>
          <p:cNvSpPr/>
          <p:nvPr/>
        </p:nvSpPr>
        <p:spPr>
          <a:xfrm>
            <a:off x="457189" y="882174"/>
            <a:ext cx="11277318" cy="1507728"/>
          </a:xfrm>
          <a:prstGeom prst="rect">
            <a:avLst/>
          </a:prstGeom>
          <a:noFill/>
          <a:ln/>
        </p:spPr>
        <p:txBody>
          <a:bodyPr wrap="square" lIns="0" tIns="0" rIns="0" bIns="0" rtlCol="0" anchor="t">
            <a:normAutofit/>
          </a:bodyPr>
          <a:lstStyle/>
          <a:p>
            <a:pPr algn="l" indent="0" marL="0">
              <a:lnSpc>
                <a:spcPct val="88000"/>
              </a:lnSpc>
              <a:buNone/>
            </a:pPr>
            <a:r>
              <a:rPr lang="en-US" sz="5600" dirty="0">
                <a:solidFill>
                  <a:srgbClr val="17222B"/>
                </a:solidFill>
                <a:latin typeface="Noto Serif Display Light" pitchFamily="34" charset="0"/>
                <a:ea typeface="Noto Serif Display Light" pitchFamily="34" charset="-122"/>
                <a:cs typeface="Noto Serif Display Light" pitchFamily="34" charset="-120"/>
              </a:rPr>
              <a:t>HIGH-SPENDING DISCOUNT USERS</a:t>
            </a:r>
            <a:endParaRPr lang="en-US" sz="5600" dirty="0"/>
          </a:p>
        </p:txBody>
      </p:sp>
      <p:sp>
        <p:nvSpPr>
          <p:cNvPr id="4" name="Shape 2"/>
          <p:cNvSpPr/>
          <p:nvPr/>
        </p:nvSpPr>
        <p:spPr>
          <a:xfrm>
            <a:off x="457189" y="2731591"/>
            <a:ext cx="1409665" cy="12601"/>
          </a:xfrm>
          <a:prstGeom prst="roundRect">
            <a:avLst>
              <a:gd name="adj" fmla="val 49998"/>
            </a:avLst>
          </a:prstGeom>
          <a:solidFill>
            <a:srgbClr val="9E2F22"/>
          </a:solidFill>
          <a:ln/>
        </p:spPr>
      </p:sp>
      <p:sp>
        <p:nvSpPr>
          <p:cNvPr id="5" name="Text 3"/>
          <p:cNvSpPr/>
          <p:nvPr/>
        </p:nvSpPr>
        <p:spPr>
          <a:xfrm>
            <a:off x="457189" y="3150295"/>
            <a:ext cx="11734506" cy="285750"/>
          </a:xfrm>
          <a:prstGeom prst="rect">
            <a:avLst/>
          </a:prstGeom>
          <a:noFill/>
          <a:ln/>
        </p:spPr>
        <p:txBody>
          <a:bodyPr wrap="none" lIns="0" tIns="0" rIns="0" bIns="0" rtlCol="0" anchor="t"/>
          <a:lstStyle/>
          <a:p>
            <a:pPr algn="l" indent="0" marL="0">
              <a:lnSpc>
                <a:spcPct val="125000"/>
              </a:lnSpc>
              <a:buNone/>
            </a:pPr>
            <a:r>
              <a:rPr lang="en-US" sz="1500" dirty="0">
                <a:solidFill>
                  <a:srgbClr val="17222B"/>
                </a:solidFill>
                <a:latin typeface="Be Vietnam Pro" pitchFamily="34" charset="0"/>
                <a:ea typeface="Be Vietnam Pro" pitchFamily="34" charset="-122"/>
                <a:cs typeface="Be Vietnam Pro" pitchFamily="34" charset="-120"/>
              </a:rPr>
              <a:t>Identified customers who used discounts but still spent above the average purchase amount. Total rows: 839.</a:t>
            </a:r>
            <a:endParaRPr lang="en-US" sz="15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189" y="3607495"/>
          <a:ext cx="11277318" cy="914400"/>
        </p:xfrm>
        <a:graphic>
          <a:graphicData uri="http://schemas.openxmlformats.org/drawingml/2006/table">
            <a:tbl>
              <a:tblPr/>
              <a:tblGrid>
                <a:gridCol w="2255384"/>
                <a:gridCol w="3383176"/>
                <a:gridCol w="2255384"/>
                <a:gridCol w="3383374"/>
              </a:tblGrid>
              <a:tr h="266693">
                <a:tc>
                  <a:txBody>
                    <a:bodyPr/>
                    <a:lstStyle/>
                    <a:p>
                      <a:pPr algn="l" indent="0" marL="0">
                        <a:buNone/>
                      </a:pPr>
                      <a:r>
                        <a:rPr lang="en-US" sz="1100" spc="110" kern="100" dirty="0">
                          <a:solidFill>
                            <a:srgbClr val="44545A"/>
                          </a:solidFill>
                          <a:latin typeface="Geist Mono" pitchFamily="34" charset="0"/>
                          <a:ea typeface="Geist Mono" pitchFamily="34" charset="-122"/>
                          <a:cs typeface="Geist Mono" pitchFamily="34" charset="-120"/>
                        </a:rPr>
                        <a:t>CUSTOMER ID</a:t>
                      </a:r>
                      <a:endParaRPr lang="en-US" sz="1100" dirty="0">
                        <a:latin typeface="Geist Mono" charset="0"/>
                        <a:ea typeface="Geist Mono" charset="0"/>
                        <a:cs typeface="Geist Mono" charset="0"/>
                      </a:endParaRPr>
                    </a:p>
                  </a:txBody>
                  <a:tcPr marL="64008" marR="177796" marT="25399" marB="25399" anchor="ctr">
                    <a:lnL w="12700" cap="flat" cmpd="sng" algn="ctr">
                      <a:solidFill>
                        <a:srgbClr val="D9E6DF"/>
                      </a:solidFill>
                      <a:prstDash val="solid"/>
                      <a:round/>
                      <a:headEnd type="none" w="med" len="med"/>
                      <a:tailEnd type="none" w="med" len="med"/>
                    </a:lnL>
                    <a:lnR w="12700" cap="flat" cmpd="sng" algn="ctr">
                      <a:solidFill>
                        <a:srgbClr val="D9E6DF"/>
                      </a:solidFill>
                      <a:prstDash val="solid"/>
                      <a:round/>
                      <a:headEnd type="none" w="med" len="med"/>
                      <a:tailEnd type="none" w="med" len="med"/>
                    </a:lnR>
                    <a:lnT w="12700" cap="flat" cmpd="sng" algn="ctr">
                      <a:solidFill>
                        <a:srgbClr val="D9E6DF"/>
                      </a:solidFill>
                      <a:prstDash val="solid"/>
                      <a:round/>
                      <a:headEnd type="none" w="med" len="med"/>
                      <a:tailEnd type="none" w="med" len="med"/>
                    </a:lnT>
                    <a:lnB w="12700" cap="flat" cmpd="sng" algn="ctr">
                      <a:solidFill>
                        <a:srgbClr val="17222B"/>
                      </a:solidFill>
                      <a:prstDash val="solid"/>
                      <a:round/>
                      <a:headEnd type="none" w="med" len="med"/>
                      <a:tailEnd type="none" w="med" len="med"/>
                    </a:lnB>
                  </a:tcPr>
                </a:tc>
                <a:tc>
                  <a:txBody>
                    <a:bodyPr/>
                    <a:lstStyle/>
                    <a:p>
                      <a:pPr algn="r" indent="0" marL="0">
                        <a:buNone/>
                      </a:pPr>
                      <a:r>
                        <a:rPr lang="en-US" sz="1100" spc="110" kern="100" dirty="0">
                          <a:solidFill>
                            <a:srgbClr val="44545A"/>
                          </a:solidFill>
                          <a:latin typeface="Geist Mono" pitchFamily="34" charset="0"/>
                          <a:ea typeface="Geist Mono" pitchFamily="34" charset="-122"/>
                          <a:cs typeface="Geist Mono" pitchFamily="34" charset="-120"/>
                        </a:rPr>
                        <a:t>PURCHASE AMOUNT (USD)</a:t>
                      </a:r>
                      <a:endParaRPr lang="en-US" sz="1100" dirty="0">
                        <a:latin typeface="Geist Mono" charset="0"/>
                        <a:ea typeface="Geist Mono" charset="0"/>
                        <a:cs typeface="Geist Mono" charset="0"/>
                      </a:endParaRPr>
                    </a:p>
                  </a:txBody>
                  <a:tcPr marL="64008" marR="177796" marT="25399" marB="25399" anchor="ctr">
                    <a:lnL w="12700" cap="flat" cmpd="sng" algn="ctr">
                      <a:solidFill>
                        <a:srgbClr val="D9E6DF"/>
                      </a:solidFill>
                      <a:prstDash val="solid"/>
                      <a:round/>
                      <a:headEnd type="none" w="med" len="med"/>
                      <a:tailEnd type="none" w="med" len="med"/>
                    </a:lnL>
                    <a:lnR w="12700" cap="flat" cmpd="sng" algn="ctr">
                      <a:solidFill>
                        <a:srgbClr val="D9E6DF"/>
                      </a:solidFill>
                      <a:prstDash val="solid"/>
                      <a:round/>
                      <a:headEnd type="none" w="med" len="med"/>
                      <a:tailEnd type="none" w="med" len="med"/>
                    </a:lnR>
                    <a:lnT w="12700" cap="flat" cmpd="sng" algn="ctr">
                      <a:solidFill>
                        <a:srgbClr val="D9E6DF"/>
                      </a:solidFill>
                      <a:prstDash val="solid"/>
                      <a:round/>
                      <a:headEnd type="none" w="med" len="med"/>
                      <a:tailEnd type="none" w="med" len="med"/>
                    </a:lnT>
                    <a:lnB w="12700" cap="flat" cmpd="sng" algn="ctr">
                      <a:solidFill>
                        <a:srgbClr val="17222B"/>
                      </a:solidFill>
                      <a:prstDash val="solid"/>
                      <a:round/>
                      <a:headEnd type="none" w="med" len="med"/>
                      <a:tailEnd type="none" w="med" len="med"/>
                    </a:lnB>
                  </a:tcPr>
                </a:tc>
                <a:tc>
                  <a:txBody>
                    <a:bodyPr/>
                    <a:lstStyle/>
                    <a:p>
                      <a:pPr algn="l" indent="0" marL="0">
                        <a:buNone/>
                      </a:pPr>
                      <a:r>
                        <a:rPr lang="en-US" sz="1100" spc="110" kern="100" dirty="0">
                          <a:solidFill>
                            <a:srgbClr val="44545A"/>
                          </a:solidFill>
                          <a:latin typeface="Geist Mono" pitchFamily="34" charset="0"/>
                          <a:ea typeface="Geist Mono" pitchFamily="34" charset="-122"/>
                          <a:cs typeface="Geist Mono" pitchFamily="34" charset="-120"/>
                        </a:rPr>
                        <a:t>CUSTOMER ID</a:t>
                      </a:r>
                      <a:endParaRPr lang="en-US" sz="1100" dirty="0">
                        <a:latin typeface="Geist Mono" charset="0"/>
                        <a:ea typeface="Geist Mono" charset="0"/>
                        <a:cs typeface="Geist Mono" charset="0"/>
                      </a:endParaRPr>
                    </a:p>
                  </a:txBody>
                  <a:tcPr marL="64008" marR="177796" marT="25399" marB="25399" anchor="ctr">
                    <a:lnL w="12700" cap="flat" cmpd="sng" algn="ctr">
                      <a:solidFill>
                        <a:srgbClr val="D9E6DF"/>
                      </a:solidFill>
                      <a:prstDash val="solid"/>
                      <a:round/>
                      <a:headEnd type="none" w="med" len="med"/>
                      <a:tailEnd type="none" w="med" len="med"/>
                    </a:lnL>
                    <a:lnR w="12700" cap="flat" cmpd="sng" algn="ctr">
                      <a:solidFill>
                        <a:srgbClr val="D9E6DF"/>
                      </a:solidFill>
                      <a:prstDash val="solid"/>
                      <a:round/>
                      <a:headEnd type="none" w="med" len="med"/>
                      <a:tailEnd type="none" w="med" len="med"/>
                    </a:lnR>
                    <a:lnT w="12700" cap="flat" cmpd="sng" algn="ctr">
                      <a:solidFill>
                        <a:srgbClr val="D9E6DF"/>
                      </a:solidFill>
                      <a:prstDash val="solid"/>
                      <a:round/>
                      <a:headEnd type="none" w="med" len="med"/>
                      <a:tailEnd type="none" w="med" len="med"/>
                    </a:lnT>
                    <a:lnB w="12700" cap="flat" cmpd="sng" algn="ctr">
                      <a:solidFill>
                        <a:srgbClr val="17222B"/>
                      </a:solidFill>
                      <a:prstDash val="solid"/>
                      <a:round/>
                      <a:headEnd type="none" w="med" len="med"/>
                      <a:tailEnd type="none" w="med" len="med"/>
                    </a:lnB>
                  </a:tcPr>
                </a:tc>
                <a:tc>
                  <a:txBody>
                    <a:bodyPr/>
                    <a:lstStyle/>
                    <a:p>
                      <a:pPr algn="r" indent="0" marL="0">
                        <a:buNone/>
                      </a:pPr>
                      <a:r>
                        <a:rPr lang="en-US" sz="1100" spc="110" kern="100" dirty="0">
                          <a:solidFill>
                            <a:srgbClr val="44545A"/>
                          </a:solidFill>
                          <a:latin typeface="Geist Mono" pitchFamily="34" charset="0"/>
                          <a:ea typeface="Geist Mono" pitchFamily="34" charset="-122"/>
                          <a:cs typeface="Geist Mono" pitchFamily="34" charset="-120"/>
                        </a:rPr>
                        <a:t>PURCHASE AMOUNT (USD)</a:t>
                      </a:r>
                      <a:endParaRPr lang="en-US" sz="1100" dirty="0">
                        <a:latin typeface="Geist Mono" charset="0"/>
                        <a:ea typeface="Geist Mono" charset="0"/>
                        <a:cs typeface="Geist Mono" charset="0"/>
                      </a:endParaRPr>
                    </a:p>
                  </a:txBody>
                  <a:tcPr marL="64008" marR="177796" marT="25399" marB="25399" anchor="ctr">
                    <a:lnL w="12700" cap="flat" cmpd="sng" algn="ctr">
                      <a:solidFill>
                        <a:srgbClr val="D9E6DF"/>
                      </a:solidFill>
                      <a:prstDash val="solid"/>
                      <a:round/>
                      <a:headEnd type="none" w="med" len="med"/>
                      <a:tailEnd type="none" w="med" len="med"/>
                    </a:lnL>
                    <a:lnR w="12700" cap="flat" cmpd="sng" algn="ctr">
                      <a:solidFill>
                        <a:srgbClr val="D9E6DF"/>
                      </a:solidFill>
                      <a:prstDash val="solid"/>
                      <a:round/>
                      <a:headEnd type="none" w="med" len="med"/>
                      <a:tailEnd type="none" w="med" len="med"/>
                    </a:lnR>
                    <a:lnT w="12700" cap="flat" cmpd="sng" algn="ctr">
                      <a:solidFill>
                        <a:srgbClr val="D9E6DF"/>
                      </a:solidFill>
                      <a:prstDash val="solid"/>
                      <a:round/>
                      <a:headEnd type="none" w="med" len="med"/>
                      <a:tailEnd type="none" w="med" len="med"/>
                    </a:lnT>
                    <a:lnB w="12700" cap="flat" cmpd="sng" algn="ctr">
                      <a:solidFill>
                        <a:srgbClr val="17222B"/>
                      </a:solidFill>
                      <a:prstDash val="solid"/>
                      <a:round/>
                      <a:headEnd type="none" w="med" len="med"/>
                      <a:tailEnd type="none" w="med" len="med"/>
                    </a:lnB>
                  </a:tcPr>
                </a:tc>
              </a:tr>
              <a:tr h="314317">
                <a:tc>
                  <a:txBody>
                    <a:bodyPr/>
                    <a:lstStyle/>
                    <a:p>
                      <a:pPr algn="l" indent="0" marL="0">
                        <a:buNone/>
                      </a:pPr>
                      <a:r>
                        <a:rPr lang="en-US" sz="1350" dirty="0">
                          <a:solidFill>
                            <a:srgbClr val="17222B"/>
                          </a:solidFill>
                          <a:latin typeface="Be Vietnam Pro" pitchFamily="34" charset="0"/>
                          <a:ea typeface="Be Vietnam Pro" pitchFamily="34" charset="-122"/>
                          <a:cs typeface="Be Vietnam Pro" pitchFamily="34" charset="-120"/>
                        </a:rPr>
                        <a:t>2</a:t>
                      </a:r>
                      <a:endParaRPr lang="en-US" sz="1350" dirty="0">
                        <a:latin typeface="Be Vietnam Pro" charset="0"/>
                        <a:ea typeface="Be Vietnam Pro" charset="0"/>
                        <a:cs typeface="Be Vietnam Pro" charset="0"/>
                      </a:endParaRPr>
                    </a:p>
                  </a:txBody>
                  <a:tcPr marL="64008" marR="177796" marT="25399" marB="25399" anchor="ctr">
                    <a:lnL w="12700" cap="flat" cmpd="sng" algn="ctr">
                      <a:solidFill>
                        <a:srgbClr val="D9E6DF"/>
                      </a:solidFill>
                      <a:prstDash val="solid"/>
                      <a:round/>
                      <a:headEnd type="none" w="med" len="med"/>
                      <a:tailEnd type="none" w="med" len="med"/>
                    </a:lnL>
                    <a:lnR w="12700" cap="flat" cmpd="sng" algn="ctr">
                      <a:solidFill>
                        <a:srgbClr val="D9E6DF"/>
                      </a:solidFill>
                      <a:prstDash val="solid"/>
                      <a:round/>
                      <a:headEnd type="none" w="med" len="med"/>
                      <a:tailEnd type="none" w="med" len="med"/>
                    </a:lnR>
                    <a:lnT w="12700" cap="flat" cmpd="sng" algn="ctr">
                      <a:solidFill>
                        <a:srgbClr val="17222B"/>
                      </a:solidFill>
                      <a:prstDash val="solid"/>
                      <a:round/>
                      <a:headEnd type="none" w="med" len="med"/>
                      <a:tailEnd type="none" w="med" len="med"/>
                    </a:lnT>
                    <a:lnB w="12700" cap="flat" cmpd="sng" algn="ctr">
                      <a:solidFill>
                        <a:srgbClr val="17222B"/>
                      </a:solidFill>
                      <a:prstDash val="solid"/>
                      <a:round/>
                      <a:headEnd type="none" w="med" len="med"/>
                      <a:tailEnd type="none" w="med" len="med"/>
                    </a:lnB>
                  </a:tcPr>
                </a:tc>
                <a:tc>
                  <a:txBody>
                    <a:bodyPr/>
                    <a:lstStyle/>
                    <a:p>
                      <a:pPr algn="r" indent="0" marL="0">
                        <a:buNone/>
                      </a:pPr>
                      <a:r>
                        <a:rPr lang="en-US" sz="1350" dirty="0">
                          <a:solidFill>
                            <a:srgbClr val="17222B"/>
                          </a:solidFill>
                          <a:latin typeface="Be Vietnam Pro" pitchFamily="34" charset="0"/>
                          <a:ea typeface="Be Vietnam Pro" pitchFamily="34" charset="-122"/>
                          <a:cs typeface="Be Vietnam Pro" pitchFamily="34" charset="-120"/>
                        </a:rPr>
                        <a:t>64</a:t>
                      </a:r>
                      <a:endParaRPr lang="en-US" sz="1350" dirty="0">
                        <a:latin typeface="Be Vietnam Pro" charset="0"/>
                        <a:ea typeface="Be Vietnam Pro" charset="0"/>
                        <a:cs typeface="Be Vietnam Pro" charset="0"/>
                      </a:endParaRPr>
                    </a:p>
                  </a:txBody>
                  <a:tcPr marL="64008" marR="177796" marT="25399" marB="25399" anchor="ctr">
                    <a:lnL w="12700" cap="flat" cmpd="sng" algn="ctr">
                      <a:solidFill>
                        <a:srgbClr val="D9E6DF"/>
                      </a:solidFill>
                      <a:prstDash val="solid"/>
                      <a:round/>
                      <a:headEnd type="none" w="med" len="med"/>
                      <a:tailEnd type="none" w="med" len="med"/>
                    </a:lnL>
                    <a:lnR w="12700" cap="flat" cmpd="sng" algn="ctr">
                      <a:solidFill>
                        <a:srgbClr val="D9E6DF"/>
                      </a:solidFill>
                      <a:prstDash val="solid"/>
                      <a:round/>
                      <a:headEnd type="none" w="med" len="med"/>
                      <a:tailEnd type="none" w="med" len="med"/>
                    </a:lnR>
                    <a:lnT w="12700" cap="flat" cmpd="sng" algn="ctr">
                      <a:solidFill>
                        <a:srgbClr val="17222B"/>
                      </a:solidFill>
                      <a:prstDash val="solid"/>
                      <a:round/>
                      <a:headEnd type="none" w="med" len="med"/>
                      <a:tailEnd type="none" w="med" len="med"/>
                    </a:lnT>
                    <a:lnB w="12700" cap="flat" cmpd="sng" algn="ctr">
                      <a:solidFill>
                        <a:srgbClr val="17222B"/>
                      </a:solidFill>
                      <a:prstDash val="solid"/>
                      <a:round/>
                      <a:headEnd type="none" w="med" len="med"/>
                      <a:tailEnd type="none" w="med" len="med"/>
                    </a:lnB>
                  </a:tcPr>
                </a:tc>
                <a:tc>
                  <a:txBody>
                    <a:bodyPr/>
                    <a:lstStyle/>
                    <a:p>
                      <a:pPr algn="l" indent="0" marL="0">
                        <a:buNone/>
                      </a:pPr>
                      <a:r>
                        <a:rPr lang="en-US" sz="1350" dirty="0">
                          <a:solidFill>
                            <a:srgbClr val="17222B"/>
                          </a:solidFill>
                          <a:latin typeface="Be Vietnam Pro" pitchFamily="34" charset="0"/>
                          <a:ea typeface="Be Vietnam Pro" pitchFamily="34" charset="-122"/>
                          <a:cs typeface="Be Vietnam Pro" pitchFamily="34" charset="-120"/>
                        </a:rPr>
                        <a:t>13</a:t>
                      </a:r>
                      <a:endParaRPr lang="en-US" sz="1350" dirty="0">
                        <a:latin typeface="Be Vietnam Pro" charset="0"/>
                        <a:ea typeface="Be Vietnam Pro" charset="0"/>
                        <a:cs typeface="Be Vietnam Pro" charset="0"/>
                      </a:endParaRPr>
                    </a:p>
                  </a:txBody>
                  <a:tcPr marL="64008" marR="177796" marT="25399" marB="25399" anchor="ctr">
                    <a:lnL w="12700" cap="flat" cmpd="sng" algn="ctr">
                      <a:solidFill>
                        <a:srgbClr val="D9E6DF"/>
                      </a:solidFill>
                      <a:prstDash val="solid"/>
                      <a:round/>
                      <a:headEnd type="none" w="med" len="med"/>
                      <a:tailEnd type="none" w="med" len="med"/>
                    </a:lnL>
                    <a:lnR w="12700" cap="flat" cmpd="sng" algn="ctr">
                      <a:solidFill>
                        <a:srgbClr val="D9E6DF"/>
                      </a:solidFill>
                      <a:prstDash val="solid"/>
                      <a:round/>
                      <a:headEnd type="none" w="med" len="med"/>
                      <a:tailEnd type="none" w="med" len="med"/>
                    </a:lnR>
                    <a:lnT w="12700" cap="flat" cmpd="sng" algn="ctr">
                      <a:solidFill>
                        <a:srgbClr val="17222B"/>
                      </a:solidFill>
                      <a:prstDash val="solid"/>
                      <a:round/>
                      <a:headEnd type="none" w="med" len="med"/>
                      <a:tailEnd type="none" w="med" len="med"/>
                    </a:lnT>
                    <a:lnB w="12700" cap="flat" cmpd="sng" algn="ctr">
                      <a:solidFill>
                        <a:srgbClr val="17222B"/>
                      </a:solidFill>
                      <a:prstDash val="solid"/>
                      <a:round/>
                      <a:headEnd type="none" w="med" len="med"/>
                      <a:tailEnd type="none" w="med" len="med"/>
                    </a:lnB>
                  </a:tcPr>
                </a:tc>
                <a:tc>
                  <a:txBody>
                    <a:bodyPr/>
                    <a:lstStyle/>
                    <a:p>
                      <a:pPr algn="r" indent="0" marL="0">
                        <a:buNone/>
                      </a:pPr>
                      <a:r>
                        <a:rPr lang="en-US" sz="1350" dirty="0">
                          <a:solidFill>
                            <a:srgbClr val="17222B"/>
                          </a:solidFill>
                          <a:latin typeface="Be Vietnam Pro" pitchFamily="34" charset="0"/>
                          <a:ea typeface="Be Vietnam Pro" pitchFamily="34" charset="-122"/>
                          <a:cs typeface="Be Vietnam Pro" pitchFamily="34" charset="-120"/>
                        </a:rPr>
                        <a:t>72</a:t>
                      </a:r>
                      <a:endParaRPr lang="en-US" sz="1350" dirty="0">
                        <a:latin typeface="Be Vietnam Pro" charset="0"/>
                        <a:ea typeface="Be Vietnam Pro" charset="0"/>
                        <a:cs typeface="Be Vietnam Pro" charset="0"/>
                      </a:endParaRPr>
                    </a:p>
                  </a:txBody>
                  <a:tcPr marL="64008" marR="177796" marT="25399" marB="25399" anchor="ctr">
                    <a:lnL w="12700" cap="flat" cmpd="sng" algn="ctr">
                      <a:solidFill>
                        <a:srgbClr val="D9E6DF"/>
                      </a:solidFill>
                      <a:prstDash val="solid"/>
                      <a:round/>
                      <a:headEnd type="none" w="med" len="med"/>
                      <a:tailEnd type="none" w="med" len="med"/>
                    </a:lnL>
                    <a:lnR w="12700" cap="flat" cmpd="sng" algn="ctr">
                      <a:solidFill>
                        <a:srgbClr val="D9E6DF"/>
                      </a:solidFill>
                      <a:prstDash val="solid"/>
                      <a:round/>
                      <a:headEnd type="none" w="med" len="med"/>
                      <a:tailEnd type="none" w="med" len="med"/>
                    </a:lnR>
                    <a:lnT w="12700" cap="flat" cmpd="sng" algn="ctr">
                      <a:solidFill>
                        <a:srgbClr val="17222B"/>
                      </a:solidFill>
                      <a:prstDash val="solid"/>
                      <a:round/>
                      <a:headEnd type="none" w="med" len="med"/>
                      <a:tailEnd type="none" w="med" len="med"/>
                    </a:lnT>
                    <a:lnB w="12700" cap="flat" cmpd="sng" algn="ctr">
                      <a:solidFill>
                        <a:srgbClr val="17222B"/>
                      </a:solidFill>
                      <a:prstDash val="solid"/>
                      <a:round/>
                      <a:headEnd type="none" w="med" len="med"/>
                      <a:tailEnd type="none" w="med" len="med"/>
                    </a:lnB>
                  </a:tcPr>
                </a:tc>
              </a:tr>
              <a:tr h="314317">
                <a:tc>
                  <a:txBody>
                    <a:bodyPr/>
                    <a:lstStyle/>
                    <a:p>
                      <a:pPr algn="l" indent="0" marL="0">
                        <a:buNone/>
                      </a:pPr>
                      <a:r>
                        <a:rPr lang="en-US" sz="1350" dirty="0">
                          <a:solidFill>
                            <a:srgbClr val="17222B"/>
                          </a:solidFill>
                          <a:latin typeface="Be Vietnam Pro" pitchFamily="34" charset="0"/>
                          <a:ea typeface="Be Vietnam Pro" pitchFamily="34" charset="-122"/>
                          <a:cs typeface="Be Vietnam Pro" pitchFamily="34" charset="-120"/>
                        </a:rPr>
                        <a:t>3</a:t>
                      </a:r>
                      <a:endParaRPr lang="en-US" sz="1350" dirty="0">
                        <a:latin typeface="Be Vietnam Pro" charset="0"/>
                        <a:ea typeface="Be Vietnam Pro" charset="0"/>
                        <a:cs typeface="Be Vietnam Pro" charset="0"/>
                      </a:endParaRPr>
                    </a:p>
                  </a:txBody>
                  <a:tcPr marL="64008" marR="177796" marT="25399" marB="25399" anchor="ctr">
                    <a:lnL w="12700" cap="flat" cmpd="sng" algn="ctr">
                      <a:solidFill>
                        <a:srgbClr val="D9E6DF"/>
                      </a:solidFill>
                      <a:prstDash val="solid"/>
                      <a:round/>
                      <a:headEnd type="none" w="med" len="med"/>
                      <a:tailEnd type="none" w="med" len="med"/>
                    </a:lnL>
                    <a:lnR w="12700" cap="flat" cmpd="sng" algn="ctr">
                      <a:solidFill>
                        <a:srgbClr val="D9E6DF"/>
                      </a:solidFill>
                      <a:prstDash val="solid"/>
                      <a:round/>
                      <a:headEnd type="none" w="med" len="med"/>
                      <a:tailEnd type="none" w="med" len="med"/>
                    </a:lnR>
                    <a:lnT w="12700" cap="flat" cmpd="sng" algn="ctr">
                      <a:solidFill>
                        <a:srgbClr val="17222B"/>
                      </a:solidFill>
                      <a:prstDash val="solid"/>
                      <a:round/>
                      <a:headEnd type="none" w="med" len="med"/>
                      <a:tailEnd type="none" w="med" len="med"/>
                    </a:lnT>
                    <a:lnB w="12700" cap="flat" cmpd="sng" algn="ctr">
                      <a:solidFill>
                        <a:srgbClr val="17222B"/>
                      </a:solidFill>
                      <a:prstDash val="solid"/>
                      <a:round/>
                      <a:headEnd type="none" w="med" len="med"/>
                      <a:tailEnd type="none" w="med" len="med"/>
                    </a:lnB>
                  </a:tcPr>
                </a:tc>
                <a:tc>
                  <a:txBody>
                    <a:bodyPr/>
                    <a:lstStyle/>
                    <a:p>
                      <a:pPr algn="r" indent="0" marL="0">
                        <a:buNone/>
                      </a:pPr>
                      <a:r>
                        <a:rPr lang="en-US" sz="1350" dirty="0">
                          <a:solidFill>
                            <a:srgbClr val="17222B"/>
                          </a:solidFill>
                          <a:latin typeface="Be Vietnam Pro" pitchFamily="34" charset="0"/>
                          <a:ea typeface="Be Vietnam Pro" pitchFamily="34" charset="-122"/>
                          <a:cs typeface="Be Vietnam Pro" pitchFamily="34" charset="-120"/>
                        </a:rPr>
                        <a:t>73</a:t>
                      </a:r>
                      <a:endParaRPr lang="en-US" sz="1350" dirty="0">
                        <a:latin typeface="Be Vietnam Pro" charset="0"/>
                        <a:ea typeface="Be Vietnam Pro" charset="0"/>
                        <a:cs typeface="Be Vietnam Pro" charset="0"/>
                      </a:endParaRPr>
                    </a:p>
                  </a:txBody>
                  <a:tcPr marL="64008" marR="177796" marT="25399" marB="25399" anchor="ctr">
                    <a:lnL w="12700" cap="flat" cmpd="sng" algn="ctr">
                      <a:solidFill>
                        <a:srgbClr val="D9E6DF"/>
                      </a:solidFill>
                      <a:prstDash val="solid"/>
                      <a:round/>
                      <a:headEnd type="none" w="med" len="med"/>
                      <a:tailEnd type="none" w="med" len="med"/>
                    </a:lnL>
                    <a:lnR w="12700" cap="flat" cmpd="sng" algn="ctr">
                      <a:solidFill>
                        <a:srgbClr val="D9E6DF"/>
                      </a:solidFill>
                      <a:prstDash val="solid"/>
                      <a:round/>
                      <a:headEnd type="none" w="med" len="med"/>
                      <a:tailEnd type="none" w="med" len="med"/>
                    </a:lnR>
                    <a:lnT w="12700" cap="flat" cmpd="sng" algn="ctr">
                      <a:solidFill>
                        <a:srgbClr val="17222B"/>
                      </a:solidFill>
                      <a:prstDash val="solid"/>
                      <a:round/>
                      <a:headEnd type="none" w="med" len="med"/>
                      <a:tailEnd type="none" w="med" len="med"/>
                    </a:lnT>
                    <a:lnB w="12700" cap="flat" cmpd="sng" algn="ctr">
                      <a:solidFill>
                        <a:srgbClr val="17222B"/>
                      </a:solidFill>
                      <a:prstDash val="solid"/>
                      <a:round/>
                      <a:headEnd type="none" w="med" len="med"/>
                      <a:tailEnd type="none" w="med" len="med"/>
                    </a:lnB>
                  </a:tcPr>
                </a:tc>
                <a:tc>
                  <a:txBody>
                    <a:bodyPr/>
                    <a:lstStyle/>
                    <a:p>
                      <a:pPr algn="l" indent="0" marL="0">
                        <a:buNone/>
                      </a:pPr>
                      <a:r>
                        <a:rPr lang="en-US" sz="1350" dirty="0">
                          <a:solidFill>
                            <a:srgbClr val="17222B"/>
                          </a:solidFill>
                          <a:latin typeface="Be Vietnam Pro" pitchFamily="34" charset="0"/>
                          <a:ea typeface="Be Vietnam Pro" pitchFamily="34" charset="-122"/>
                          <a:cs typeface="Be Vietnam Pro" pitchFamily="34" charset="-120"/>
                        </a:rPr>
                        <a:t>16</a:t>
                      </a:r>
                      <a:endParaRPr lang="en-US" sz="1350" dirty="0">
                        <a:latin typeface="Be Vietnam Pro" charset="0"/>
                        <a:ea typeface="Be Vietnam Pro" charset="0"/>
                        <a:cs typeface="Be Vietnam Pro" charset="0"/>
                      </a:endParaRPr>
                    </a:p>
                  </a:txBody>
                  <a:tcPr marL="64008" marR="177796" marT="25399" marB="25399" anchor="ctr">
                    <a:lnL w="12700" cap="flat" cmpd="sng" algn="ctr">
                      <a:solidFill>
                        <a:srgbClr val="D9E6DF"/>
                      </a:solidFill>
                      <a:prstDash val="solid"/>
                      <a:round/>
                      <a:headEnd type="none" w="med" len="med"/>
                      <a:tailEnd type="none" w="med" len="med"/>
                    </a:lnL>
                    <a:lnR w="12700" cap="flat" cmpd="sng" algn="ctr">
                      <a:solidFill>
                        <a:srgbClr val="D9E6DF"/>
                      </a:solidFill>
                      <a:prstDash val="solid"/>
                      <a:round/>
                      <a:headEnd type="none" w="med" len="med"/>
                      <a:tailEnd type="none" w="med" len="med"/>
                    </a:lnR>
                    <a:lnT w="12700" cap="flat" cmpd="sng" algn="ctr">
                      <a:solidFill>
                        <a:srgbClr val="17222B"/>
                      </a:solidFill>
                      <a:prstDash val="solid"/>
                      <a:round/>
                      <a:headEnd type="none" w="med" len="med"/>
                      <a:tailEnd type="none" w="med" len="med"/>
                    </a:lnT>
                    <a:lnB w="12700" cap="flat" cmpd="sng" algn="ctr">
                      <a:solidFill>
                        <a:srgbClr val="17222B"/>
                      </a:solidFill>
                      <a:prstDash val="solid"/>
                      <a:round/>
                      <a:headEnd type="none" w="med" len="med"/>
                      <a:tailEnd type="none" w="med" len="med"/>
                    </a:lnB>
                  </a:tcPr>
                </a:tc>
                <a:tc>
                  <a:txBody>
                    <a:bodyPr/>
                    <a:lstStyle/>
                    <a:p>
                      <a:pPr algn="r" indent="0" marL="0">
                        <a:buNone/>
                      </a:pPr>
                      <a:r>
                        <a:rPr lang="en-US" sz="1350" dirty="0">
                          <a:solidFill>
                            <a:srgbClr val="17222B"/>
                          </a:solidFill>
                          <a:latin typeface="Be Vietnam Pro" pitchFamily="34" charset="0"/>
                          <a:ea typeface="Be Vietnam Pro" pitchFamily="34" charset="-122"/>
                          <a:cs typeface="Be Vietnam Pro" pitchFamily="34" charset="-120"/>
                        </a:rPr>
                        <a:t>81</a:t>
                      </a:r>
                      <a:endParaRPr lang="en-US" sz="1350" dirty="0">
                        <a:latin typeface="Be Vietnam Pro" charset="0"/>
                        <a:ea typeface="Be Vietnam Pro" charset="0"/>
                        <a:cs typeface="Be Vietnam Pro" charset="0"/>
                      </a:endParaRPr>
                    </a:p>
                  </a:txBody>
                  <a:tcPr marL="64008" marR="177796" marT="25399" marB="25399" anchor="ctr">
                    <a:lnL w="12700" cap="flat" cmpd="sng" algn="ctr">
                      <a:solidFill>
                        <a:srgbClr val="D9E6DF"/>
                      </a:solidFill>
                      <a:prstDash val="solid"/>
                      <a:round/>
                      <a:headEnd type="none" w="med" len="med"/>
                      <a:tailEnd type="none" w="med" len="med"/>
                    </a:lnL>
                    <a:lnR w="12700" cap="flat" cmpd="sng" algn="ctr">
                      <a:solidFill>
                        <a:srgbClr val="D9E6DF"/>
                      </a:solidFill>
                      <a:prstDash val="solid"/>
                      <a:round/>
                      <a:headEnd type="none" w="med" len="med"/>
                      <a:tailEnd type="none" w="med" len="med"/>
                    </a:lnR>
                    <a:lnT w="12700" cap="flat" cmpd="sng" algn="ctr">
                      <a:solidFill>
                        <a:srgbClr val="17222B"/>
                      </a:solidFill>
                      <a:prstDash val="solid"/>
                      <a:round/>
                      <a:headEnd type="none" w="med" len="med"/>
                      <a:tailEnd type="none" w="med" len="med"/>
                    </a:lnT>
                    <a:lnB w="12700" cap="flat" cmpd="sng" algn="ctr">
                      <a:solidFill>
                        <a:srgbClr val="17222B"/>
                      </a:solidFill>
                      <a:prstDash val="solid"/>
                      <a:round/>
                      <a:headEnd type="none" w="med" len="med"/>
                      <a:tailEnd type="none" w="med" len="med"/>
                    </a:lnB>
                  </a:tcPr>
                </a:tc>
              </a:tr>
              <a:tr h="314317">
                <a:tc>
                  <a:txBody>
                    <a:bodyPr/>
                    <a:lstStyle/>
                    <a:p>
                      <a:pPr algn="l" indent="0" marL="0">
                        <a:buNone/>
                      </a:pPr>
                      <a:r>
                        <a:rPr lang="en-US" sz="1350" dirty="0">
                          <a:solidFill>
                            <a:srgbClr val="17222B"/>
                          </a:solidFill>
                          <a:latin typeface="Be Vietnam Pro" pitchFamily="34" charset="0"/>
                          <a:ea typeface="Be Vietnam Pro" pitchFamily="34" charset="-122"/>
                          <a:cs typeface="Be Vietnam Pro" pitchFamily="34" charset="-120"/>
                        </a:rPr>
                        <a:t>4</a:t>
                      </a:r>
                      <a:endParaRPr lang="en-US" sz="1350" dirty="0">
                        <a:latin typeface="Be Vietnam Pro" charset="0"/>
                        <a:ea typeface="Be Vietnam Pro" charset="0"/>
                        <a:cs typeface="Be Vietnam Pro" charset="0"/>
                      </a:endParaRPr>
                    </a:p>
                  </a:txBody>
                  <a:tcPr marL="64008" marR="177796" marT="25399" marB="25399" anchor="ctr">
                    <a:lnL w="12700" cap="flat" cmpd="sng" algn="ctr">
                      <a:solidFill>
                        <a:srgbClr val="D9E6DF"/>
                      </a:solidFill>
                      <a:prstDash val="solid"/>
                      <a:round/>
                      <a:headEnd type="none" w="med" len="med"/>
                      <a:tailEnd type="none" w="med" len="med"/>
                    </a:lnL>
                    <a:lnR w="12700" cap="flat" cmpd="sng" algn="ctr">
                      <a:solidFill>
                        <a:srgbClr val="D9E6DF"/>
                      </a:solidFill>
                      <a:prstDash val="solid"/>
                      <a:round/>
                      <a:headEnd type="none" w="med" len="med"/>
                      <a:tailEnd type="none" w="med" len="med"/>
                    </a:lnR>
                    <a:lnT w="12700" cap="flat" cmpd="sng" algn="ctr">
                      <a:solidFill>
                        <a:srgbClr val="17222B"/>
                      </a:solidFill>
                      <a:prstDash val="solid"/>
                      <a:round/>
                      <a:headEnd type="none" w="med" len="med"/>
                      <a:tailEnd type="none" w="med" len="med"/>
                    </a:lnT>
                    <a:lnB w="12700" cap="flat" cmpd="sng" algn="ctr">
                      <a:solidFill>
                        <a:srgbClr val="17222B"/>
                      </a:solidFill>
                      <a:prstDash val="solid"/>
                      <a:round/>
                      <a:headEnd type="none" w="med" len="med"/>
                      <a:tailEnd type="none" w="med" len="med"/>
                    </a:lnB>
                  </a:tcPr>
                </a:tc>
                <a:tc>
                  <a:txBody>
                    <a:bodyPr/>
                    <a:lstStyle/>
                    <a:p>
                      <a:pPr algn="r" indent="0" marL="0">
                        <a:buNone/>
                      </a:pPr>
                      <a:r>
                        <a:rPr lang="en-US" sz="1350" dirty="0">
                          <a:solidFill>
                            <a:srgbClr val="17222B"/>
                          </a:solidFill>
                          <a:latin typeface="Be Vietnam Pro" pitchFamily="34" charset="0"/>
                          <a:ea typeface="Be Vietnam Pro" pitchFamily="34" charset="-122"/>
                          <a:cs typeface="Be Vietnam Pro" pitchFamily="34" charset="-120"/>
                        </a:rPr>
                        <a:t>90</a:t>
                      </a:r>
                      <a:endParaRPr lang="en-US" sz="1350" dirty="0">
                        <a:latin typeface="Be Vietnam Pro" charset="0"/>
                        <a:ea typeface="Be Vietnam Pro" charset="0"/>
                        <a:cs typeface="Be Vietnam Pro" charset="0"/>
                      </a:endParaRPr>
                    </a:p>
                  </a:txBody>
                  <a:tcPr marL="64008" marR="177796" marT="25399" marB="25399" anchor="ctr">
                    <a:lnL w="12700" cap="flat" cmpd="sng" algn="ctr">
                      <a:solidFill>
                        <a:srgbClr val="D9E6DF"/>
                      </a:solidFill>
                      <a:prstDash val="solid"/>
                      <a:round/>
                      <a:headEnd type="none" w="med" len="med"/>
                      <a:tailEnd type="none" w="med" len="med"/>
                    </a:lnL>
                    <a:lnR w="12700" cap="flat" cmpd="sng" algn="ctr">
                      <a:solidFill>
                        <a:srgbClr val="D9E6DF"/>
                      </a:solidFill>
                      <a:prstDash val="solid"/>
                      <a:round/>
                      <a:headEnd type="none" w="med" len="med"/>
                      <a:tailEnd type="none" w="med" len="med"/>
                    </a:lnR>
                    <a:lnT w="12700" cap="flat" cmpd="sng" algn="ctr">
                      <a:solidFill>
                        <a:srgbClr val="17222B"/>
                      </a:solidFill>
                      <a:prstDash val="solid"/>
                      <a:round/>
                      <a:headEnd type="none" w="med" len="med"/>
                      <a:tailEnd type="none" w="med" len="med"/>
                    </a:lnT>
                    <a:lnB w="12700" cap="flat" cmpd="sng" algn="ctr">
                      <a:solidFill>
                        <a:srgbClr val="17222B"/>
                      </a:solidFill>
                      <a:prstDash val="solid"/>
                      <a:round/>
                      <a:headEnd type="none" w="med" len="med"/>
                      <a:tailEnd type="none" w="med" len="med"/>
                    </a:lnB>
                  </a:tcPr>
                </a:tc>
                <a:tc>
                  <a:txBody>
                    <a:bodyPr/>
                    <a:lstStyle/>
                    <a:p>
                      <a:pPr algn="l" indent="0" marL="0">
                        <a:buNone/>
                      </a:pPr>
                      <a:r>
                        <a:rPr lang="en-US" sz="1350" dirty="0">
                          <a:solidFill>
                            <a:srgbClr val="17222B"/>
                          </a:solidFill>
                          <a:latin typeface="Be Vietnam Pro" pitchFamily="34" charset="0"/>
                          <a:ea typeface="Be Vietnam Pro" pitchFamily="34" charset="-122"/>
                          <a:cs typeface="Be Vietnam Pro" pitchFamily="34" charset="-120"/>
                        </a:rPr>
                        <a:t>20</a:t>
                      </a:r>
                      <a:endParaRPr lang="en-US" sz="1350" dirty="0">
                        <a:latin typeface="Be Vietnam Pro" charset="0"/>
                        <a:ea typeface="Be Vietnam Pro" charset="0"/>
                        <a:cs typeface="Be Vietnam Pro" charset="0"/>
                      </a:endParaRPr>
                    </a:p>
                  </a:txBody>
                  <a:tcPr marL="64008" marR="177796" marT="25399" marB="25399" anchor="ctr">
                    <a:lnL w="12700" cap="flat" cmpd="sng" algn="ctr">
                      <a:solidFill>
                        <a:srgbClr val="D9E6DF"/>
                      </a:solidFill>
                      <a:prstDash val="solid"/>
                      <a:round/>
                      <a:headEnd type="none" w="med" len="med"/>
                      <a:tailEnd type="none" w="med" len="med"/>
                    </a:lnL>
                    <a:lnR w="12700" cap="flat" cmpd="sng" algn="ctr">
                      <a:solidFill>
                        <a:srgbClr val="D9E6DF"/>
                      </a:solidFill>
                      <a:prstDash val="solid"/>
                      <a:round/>
                      <a:headEnd type="none" w="med" len="med"/>
                      <a:tailEnd type="none" w="med" len="med"/>
                    </a:lnR>
                    <a:lnT w="12700" cap="flat" cmpd="sng" algn="ctr">
                      <a:solidFill>
                        <a:srgbClr val="17222B"/>
                      </a:solidFill>
                      <a:prstDash val="solid"/>
                      <a:round/>
                      <a:headEnd type="none" w="med" len="med"/>
                      <a:tailEnd type="none" w="med" len="med"/>
                    </a:lnT>
                    <a:lnB w="12700" cap="flat" cmpd="sng" algn="ctr">
                      <a:solidFill>
                        <a:srgbClr val="17222B"/>
                      </a:solidFill>
                      <a:prstDash val="solid"/>
                      <a:round/>
                      <a:headEnd type="none" w="med" len="med"/>
                      <a:tailEnd type="none" w="med" len="med"/>
                    </a:lnB>
                  </a:tcPr>
                </a:tc>
                <a:tc>
                  <a:txBody>
                    <a:bodyPr/>
                    <a:lstStyle/>
                    <a:p>
                      <a:pPr algn="r" indent="0" marL="0">
                        <a:buNone/>
                      </a:pPr>
                      <a:r>
                        <a:rPr lang="en-US" sz="1350" dirty="0">
                          <a:solidFill>
                            <a:srgbClr val="17222B"/>
                          </a:solidFill>
                          <a:latin typeface="Be Vietnam Pro" pitchFamily="34" charset="0"/>
                          <a:ea typeface="Be Vietnam Pro" pitchFamily="34" charset="-122"/>
                          <a:cs typeface="Be Vietnam Pro" pitchFamily="34" charset="-120"/>
                        </a:rPr>
                        <a:t>90</a:t>
                      </a:r>
                      <a:endParaRPr lang="en-US" sz="1350" dirty="0">
                        <a:latin typeface="Be Vietnam Pro" charset="0"/>
                        <a:ea typeface="Be Vietnam Pro" charset="0"/>
                        <a:cs typeface="Be Vietnam Pro" charset="0"/>
                      </a:endParaRPr>
                    </a:p>
                  </a:txBody>
                  <a:tcPr marL="64008" marR="177796" marT="25399" marB="25399" anchor="ctr">
                    <a:lnL w="12700" cap="flat" cmpd="sng" algn="ctr">
                      <a:solidFill>
                        <a:srgbClr val="D9E6DF"/>
                      </a:solidFill>
                      <a:prstDash val="solid"/>
                      <a:round/>
                      <a:headEnd type="none" w="med" len="med"/>
                      <a:tailEnd type="none" w="med" len="med"/>
                    </a:lnL>
                    <a:lnR w="12700" cap="flat" cmpd="sng" algn="ctr">
                      <a:solidFill>
                        <a:srgbClr val="D9E6DF"/>
                      </a:solidFill>
                      <a:prstDash val="solid"/>
                      <a:round/>
                      <a:headEnd type="none" w="med" len="med"/>
                      <a:tailEnd type="none" w="med" len="med"/>
                    </a:lnR>
                    <a:lnT w="12700" cap="flat" cmpd="sng" algn="ctr">
                      <a:solidFill>
                        <a:srgbClr val="17222B"/>
                      </a:solidFill>
                      <a:prstDash val="solid"/>
                      <a:round/>
                      <a:headEnd type="none" w="med" len="med"/>
                      <a:tailEnd type="none" w="med" len="med"/>
                    </a:lnT>
                    <a:lnB w="12700" cap="flat" cmpd="sng" algn="ctr">
                      <a:solidFill>
                        <a:srgbClr val="17222B"/>
                      </a:solidFill>
                      <a:prstDash val="solid"/>
                      <a:round/>
                      <a:headEnd type="none" w="med" len="med"/>
                      <a:tailEnd type="none" w="med" len="med"/>
                    </a:lnB>
                  </a:tcPr>
                </a:tc>
              </a:tr>
              <a:tr h="314317">
                <a:tc>
                  <a:txBody>
                    <a:bodyPr/>
                    <a:lstStyle/>
                    <a:p>
                      <a:pPr algn="l" indent="0" marL="0">
                        <a:buNone/>
                      </a:pPr>
                      <a:r>
                        <a:rPr lang="en-US" sz="1350" dirty="0">
                          <a:solidFill>
                            <a:srgbClr val="17222B"/>
                          </a:solidFill>
                          <a:latin typeface="Be Vietnam Pro" pitchFamily="34" charset="0"/>
                          <a:ea typeface="Be Vietnam Pro" pitchFamily="34" charset="-122"/>
                          <a:cs typeface="Be Vietnam Pro" pitchFamily="34" charset="-120"/>
                        </a:rPr>
                        <a:t>7</a:t>
                      </a:r>
                      <a:endParaRPr lang="en-US" sz="1350" dirty="0">
                        <a:latin typeface="Be Vietnam Pro" charset="0"/>
                        <a:ea typeface="Be Vietnam Pro" charset="0"/>
                        <a:cs typeface="Be Vietnam Pro" charset="0"/>
                      </a:endParaRPr>
                    </a:p>
                  </a:txBody>
                  <a:tcPr marL="64008" marR="177796" marT="25399" marB="25399" anchor="ctr">
                    <a:lnL w="12700" cap="flat" cmpd="sng" algn="ctr">
                      <a:solidFill>
                        <a:srgbClr val="D9E6DF"/>
                      </a:solidFill>
                      <a:prstDash val="solid"/>
                      <a:round/>
                      <a:headEnd type="none" w="med" len="med"/>
                      <a:tailEnd type="none" w="med" len="med"/>
                    </a:lnL>
                    <a:lnR w="12700" cap="flat" cmpd="sng" algn="ctr">
                      <a:solidFill>
                        <a:srgbClr val="D9E6DF"/>
                      </a:solidFill>
                      <a:prstDash val="solid"/>
                      <a:round/>
                      <a:headEnd type="none" w="med" len="med"/>
                      <a:tailEnd type="none" w="med" len="med"/>
                    </a:lnR>
                    <a:lnT w="12700" cap="flat" cmpd="sng" algn="ctr">
                      <a:solidFill>
                        <a:srgbClr val="17222B"/>
                      </a:solidFill>
                      <a:prstDash val="solid"/>
                      <a:round/>
                      <a:headEnd type="none" w="med" len="med"/>
                      <a:tailEnd type="none" w="med" len="med"/>
                    </a:lnT>
                    <a:lnB w="12700" cap="flat" cmpd="sng" algn="ctr">
                      <a:solidFill>
                        <a:srgbClr val="17222B"/>
                      </a:solidFill>
                      <a:prstDash val="solid"/>
                      <a:round/>
                      <a:headEnd type="none" w="med" len="med"/>
                      <a:tailEnd type="none" w="med" len="med"/>
                    </a:lnB>
                  </a:tcPr>
                </a:tc>
                <a:tc>
                  <a:txBody>
                    <a:bodyPr/>
                    <a:lstStyle/>
                    <a:p>
                      <a:pPr algn="r" indent="0" marL="0">
                        <a:buNone/>
                      </a:pPr>
                      <a:r>
                        <a:rPr lang="en-US" sz="1350" dirty="0">
                          <a:solidFill>
                            <a:srgbClr val="17222B"/>
                          </a:solidFill>
                          <a:latin typeface="Be Vietnam Pro" pitchFamily="34" charset="0"/>
                          <a:ea typeface="Be Vietnam Pro" pitchFamily="34" charset="-122"/>
                          <a:cs typeface="Be Vietnam Pro" pitchFamily="34" charset="-120"/>
                        </a:rPr>
                        <a:t>85</a:t>
                      </a:r>
                      <a:endParaRPr lang="en-US" sz="1350" dirty="0">
                        <a:latin typeface="Be Vietnam Pro" charset="0"/>
                        <a:ea typeface="Be Vietnam Pro" charset="0"/>
                        <a:cs typeface="Be Vietnam Pro" charset="0"/>
                      </a:endParaRPr>
                    </a:p>
                  </a:txBody>
                  <a:tcPr marL="64008" marR="177796" marT="25399" marB="25399" anchor="ctr">
                    <a:lnL w="12700" cap="flat" cmpd="sng" algn="ctr">
                      <a:solidFill>
                        <a:srgbClr val="D9E6DF"/>
                      </a:solidFill>
                      <a:prstDash val="solid"/>
                      <a:round/>
                      <a:headEnd type="none" w="med" len="med"/>
                      <a:tailEnd type="none" w="med" len="med"/>
                    </a:lnL>
                    <a:lnR w="12700" cap="flat" cmpd="sng" algn="ctr">
                      <a:solidFill>
                        <a:srgbClr val="D9E6DF"/>
                      </a:solidFill>
                      <a:prstDash val="solid"/>
                      <a:round/>
                      <a:headEnd type="none" w="med" len="med"/>
                      <a:tailEnd type="none" w="med" len="med"/>
                    </a:lnR>
                    <a:lnT w="12700" cap="flat" cmpd="sng" algn="ctr">
                      <a:solidFill>
                        <a:srgbClr val="17222B"/>
                      </a:solidFill>
                      <a:prstDash val="solid"/>
                      <a:round/>
                      <a:headEnd type="none" w="med" len="med"/>
                      <a:tailEnd type="none" w="med" len="med"/>
                    </a:lnT>
                    <a:lnB w="12700" cap="flat" cmpd="sng" algn="ctr">
                      <a:solidFill>
                        <a:srgbClr val="17222B"/>
                      </a:solidFill>
                      <a:prstDash val="solid"/>
                      <a:round/>
                      <a:headEnd type="none" w="med" len="med"/>
                      <a:tailEnd type="none" w="med" len="med"/>
                    </a:lnB>
                  </a:tcPr>
                </a:tc>
                <a:tc>
                  <a:txBody>
                    <a:bodyPr/>
                    <a:lstStyle/>
                    <a:p>
                      <a:pPr algn="l" indent="0" marL="0">
                        <a:buNone/>
                      </a:pPr>
                      <a:r>
                        <a:rPr lang="en-US" sz="1350" dirty="0">
                          <a:solidFill>
                            <a:srgbClr val="17222B"/>
                          </a:solidFill>
                          <a:latin typeface="Be Vietnam Pro" pitchFamily="34" charset="0"/>
                          <a:ea typeface="Be Vietnam Pro" pitchFamily="34" charset="-122"/>
                          <a:cs typeface="Be Vietnam Pro" pitchFamily="34" charset="-120"/>
                        </a:rPr>
                        <a:t>22</a:t>
                      </a:r>
                      <a:endParaRPr lang="en-US" sz="1350" dirty="0">
                        <a:latin typeface="Be Vietnam Pro" charset="0"/>
                        <a:ea typeface="Be Vietnam Pro" charset="0"/>
                        <a:cs typeface="Be Vietnam Pro" charset="0"/>
                      </a:endParaRPr>
                    </a:p>
                  </a:txBody>
                  <a:tcPr marL="64008" marR="177796" marT="25399" marB="25399" anchor="ctr">
                    <a:lnL w="12700" cap="flat" cmpd="sng" algn="ctr">
                      <a:solidFill>
                        <a:srgbClr val="D9E6DF"/>
                      </a:solidFill>
                      <a:prstDash val="solid"/>
                      <a:round/>
                      <a:headEnd type="none" w="med" len="med"/>
                      <a:tailEnd type="none" w="med" len="med"/>
                    </a:lnL>
                    <a:lnR w="12700" cap="flat" cmpd="sng" algn="ctr">
                      <a:solidFill>
                        <a:srgbClr val="D9E6DF"/>
                      </a:solidFill>
                      <a:prstDash val="solid"/>
                      <a:round/>
                      <a:headEnd type="none" w="med" len="med"/>
                      <a:tailEnd type="none" w="med" len="med"/>
                    </a:lnR>
                    <a:lnT w="12700" cap="flat" cmpd="sng" algn="ctr">
                      <a:solidFill>
                        <a:srgbClr val="17222B"/>
                      </a:solidFill>
                      <a:prstDash val="solid"/>
                      <a:round/>
                      <a:headEnd type="none" w="med" len="med"/>
                      <a:tailEnd type="none" w="med" len="med"/>
                    </a:lnT>
                    <a:lnB w="12700" cap="flat" cmpd="sng" algn="ctr">
                      <a:solidFill>
                        <a:srgbClr val="17222B"/>
                      </a:solidFill>
                      <a:prstDash val="solid"/>
                      <a:round/>
                      <a:headEnd type="none" w="med" len="med"/>
                      <a:tailEnd type="none" w="med" len="med"/>
                    </a:lnB>
                  </a:tcPr>
                </a:tc>
                <a:tc>
                  <a:txBody>
                    <a:bodyPr/>
                    <a:lstStyle/>
                    <a:p>
                      <a:pPr algn="r" indent="0" marL="0">
                        <a:buNone/>
                      </a:pPr>
                      <a:r>
                        <a:rPr lang="en-US" sz="1350" dirty="0">
                          <a:solidFill>
                            <a:srgbClr val="17222B"/>
                          </a:solidFill>
                          <a:latin typeface="Be Vietnam Pro" pitchFamily="34" charset="0"/>
                          <a:ea typeface="Be Vietnam Pro" pitchFamily="34" charset="-122"/>
                          <a:cs typeface="Be Vietnam Pro" pitchFamily="34" charset="-120"/>
                        </a:rPr>
                        <a:t>62</a:t>
                      </a:r>
                      <a:endParaRPr lang="en-US" sz="1350" dirty="0">
                        <a:latin typeface="Be Vietnam Pro" charset="0"/>
                        <a:ea typeface="Be Vietnam Pro" charset="0"/>
                        <a:cs typeface="Be Vietnam Pro" charset="0"/>
                      </a:endParaRPr>
                    </a:p>
                  </a:txBody>
                  <a:tcPr marL="64008" marR="177796" marT="25399" marB="25399" anchor="ctr">
                    <a:lnL w="12700" cap="flat" cmpd="sng" algn="ctr">
                      <a:solidFill>
                        <a:srgbClr val="D9E6DF"/>
                      </a:solidFill>
                      <a:prstDash val="solid"/>
                      <a:round/>
                      <a:headEnd type="none" w="med" len="med"/>
                      <a:tailEnd type="none" w="med" len="med"/>
                    </a:lnL>
                    <a:lnR w="12700" cap="flat" cmpd="sng" algn="ctr">
                      <a:solidFill>
                        <a:srgbClr val="D9E6DF"/>
                      </a:solidFill>
                      <a:prstDash val="solid"/>
                      <a:round/>
                      <a:headEnd type="none" w="med" len="med"/>
                      <a:tailEnd type="none" w="med" len="med"/>
                    </a:lnR>
                    <a:lnT w="12700" cap="flat" cmpd="sng" algn="ctr">
                      <a:solidFill>
                        <a:srgbClr val="17222B"/>
                      </a:solidFill>
                      <a:prstDash val="solid"/>
                      <a:round/>
                      <a:headEnd type="none" w="med" len="med"/>
                      <a:tailEnd type="none" w="med" len="med"/>
                    </a:lnT>
                    <a:lnB w="12700" cap="flat" cmpd="sng" algn="ctr">
                      <a:solidFill>
                        <a:srgbClr val="17222B"/>
                      </a:solidFill>
                      <a:prstDash val="solid"/>
                      <a:round/>
                      <a:headEnd type="none" w="med" len="med"/>
                      <a:tailEnd type="none" w="med" len="med"/>
                    </a:lnB>
                  </a:tcPr>
                </a:tc>
              </a:tr>
              <a:tr h="314317">
                <a:tc>
                  <a:txBody>
                    <a:bodyPr/>
                    <a:lstStyle/>
                    <a:p>
                      <a:pPr algn="l" indent="0" marL="0">
                        <a:buNone/>
                      </a:pPr>
                      <a:r>
                        <a:rPr lang="en-US" sz="1350" dirty="0">
                          <a:solidFill>
                            <a:srgbClr val="17222B"/>
                          </a:solidFill>
                          <a:latin typeface="Be Vietnam Pro" pitchFamily="34" charset="0"/>
                          <a:ea typeface="Be Vietnam Pro" pitchFamily="34" charset="-122"/>
                          <a:cs typeface="Be Vietnam Pro" pitchFamily="34" charset="-120"/>
                        </a:rPr>
                        <a:t>9</a:t>
                      </a:r>
                      <a:endParaRPr lang="en-US" sz="1350" dirty="0">
                        <a:latin typeface="Be Vietnam Pro" charset="0"/>
                        <a:ea typeface="Be Vietnam Pro" charset="0"/>
                        <a:cs typeface="Be Vietnam Pro" charset="0"/>
                      </a:endParaRPr>
                    </a:p>
                  </a:txBody>
                  <a:tcPr marL="64008" marR="177796" marT="25399" marB="25399" anchor="ctr">
                    <a:lnL w="12700" cap="flat" cmpd="sng" algn="ctr">
                      <a:solidFill>
                        <a:srgbClr val="D9E6DF"/>
                      </a:solidFill>
                      <a:prstDash val="solid"/>
                      <a:round/>
                      <a:headEnd type="none" w="med" len="med"/>
                      <a:tailEnd type="none" w="med" len="med"/>
                    </a:lnL>
                    <a:lnR w="12700" cap="flat" cmpd="sng" algn="ctr">
                      <a:solidFill>
                        <a:srgbClr val="D9E6DF"/>
                      </a:solidFill>
                      <a:prstDash val="solid"/>
                      <a:round/>
                      <a:headEnd type="none" w="med" len="med"/>
                      <a:tailEnd type="none" w="med" len="med"/>
                    </a:lnR>
                    <a:lnT w="12700" cap="flat" cmpd="sng" algn="ctr">
                      <a:solidFill>
                        <a:srgbClr val="17222B"/>
                      </a:solidFill>
                      <a:prstDash val="solid"/>
                      <a:round/>
                      <a:headEnd type="none" w="med" len="med"/>
                      <a:tailEnd type="none" w="med" len="med"/>
                    </a:lnT>
                    <a:lnB w="12700" cap="flat" cmpd="sng" algn="ctr">
                      <a:solidFill>
                        <a:srgbClr val="17222B"/>
                      </a:solidFill>
                      <a:prstDash val="solid"/>
                      <a:round/>
                      <a:headEnd type="none" w="med" len="med"/>
                      <a:tailEnd type="none" w="med" len="med"/>
                    </a:lnB>
                  </a:tcPr>
                </a:tc>
                <a:tc>
                  <a:txBody>
                    <a:bodyPr/>
                    <a:lstStyle/>
                    <a:p>
                      <a:pPr algn="r" indent="0" marL="0">
                        <a:buNone/>
                      </a:pPr>
                      <a:r>
                        <a:rPr lang="en-US" sz="1350" dirty="0">
                          <a:solidFill>
                            <a:srgbClr val="17222B"/>
                          </a:solidFill>
                          <a:latin typeface="Be Vietnam Pro" pitchFamily="34" charset="0"/>
                          <a:ea typeface="Be Vietnam Pro" pitchFamily="34" charset="-122"/>
                          <a:cs typeface="Be Vietnam Pro" pitchFamily="34" charset="-120"/>
                        </a:rPr>
                        <a:t>97</a:t>
                      </a:r>
                      <a:endParaRPr lang="en-US" sz="1350" dirty="0">
                        <a:latin typeface="Be Vietnam Pro" charset="0"/>
                        <a:ea typeface="Be Vietnam Pro" charset="0"/>
                        <a:cs typeface="Be Vietnam Pro" charset="0"/>
                      </a:endParaRPr>
                    </a:p>
                  </a:txBody>
                  <a:tcPr marL="64008" marR="177796" marT="25399" marB="25399" anchor="ctr">
                    <a:lnL w="12700" cap="flat" cmpd="sng" algn="ctr">
                      <a:solidFill>
                        <a:srgbClr val="D9E6DF"/>
                      </a:solidFill>
                      <a:prstDash val="solid"/>
                      <a:round/>
                      <a:headEnd type="none" w="med" len="med"/>
                      <a:tailEnd type="none" w="med" len="med"/>
                    </a:lnL>
                    <a:lnR w="12700" cap="flat" cmpd="sng" algn="ctr">
                      <a:solidFill>
                        <a:srgbClr val="D9E6DF"/>
                      </a:solidFill>
                      <a:prstDash val="solid"/>
                      <a:round/>
                      <a:headEnd type="none" w="med" len="med"/>
                      <a:tailEnd type="none" w="med" len="med"/>
                    </a:lnR>
                    <a:lnT w="12700" cap="flat" cmpd="sng" algn="ctr">
                      <a:solidFill>
                        <a:srgbClr val="17222B"/>
                      </a:solidFill>
                      <a:prstDash val="solid"/>
                      <a:round/>
                      <a:headEnd type="none" w="med" len="med"/>
                      <a:tailEnd type="none" w="med" len="med"/>
                    </a:lnT>
                    <a:lnB w="12700" cap="flat" cmpd="sng" algn="ctr">
                      <a:solidFill>
                        <a:srgbClr val="17222B"/>
                      </a:solidFill>
                      <a:prstDash val="solid"/>
                      <a:round/>
                      <a:headEnd type="none" w="med" len="med"/>
                      <a:tailEnd type="none" w="med" len="med"/>
                    </a:lnB>
                  </a:tcPr>
                </a:tc>
                <a:tc>
                  <a:txBody>
                    <a:bodyPr/>
                    <a:lstStyle/>
                    <a:p>
                      <a:pPr algn="l" indent="0" marL="0">
                        <a:buNone/>
                      </a:pPr>
                      <a:r>
                        <a:rPr lang="en-US" sz="1350" dirty="0">
                          <a:solidFill>
                            <a:srgbClr val="17222B"/>
                          </a:solidFill>
                          <a:latin typeface="Be Vietnam Pro" pitchFamily="34" charset="0"/>
                          <a:ea typeface="Be Vietnam Pro" pitchFamily="34" charset="-122"/>
                          <a:cs typeface="Be Vietnam Pro" pitchFamily="34" charset="-120"/>
                        </a:rPr>
                        <a:t>24</a:t>
                      </a:r>
                      <a:endParaRPr lang="en-US" sz="1350" dirty="0">
                        <a:latin typeface="Be Vietnam Pro" charset="0"/>
                        <a:ea typeface="Be Vietnam Pro" charset="0"/>
                        <a:cs typeface="Be Vietnam Pro" charset="0"/>
                      </a:endParaRPr>
                    </a:p>
                  </a:txBody>
                  <a:tcPr marL="64008" marR="177796" marT="25399" marB="25399" anchor="ctr">
                    <a:lnL w="12700" cap="flat" cmpd="sng" algn="ctr">
                      <a:solidFill>
                        <a:srgbClr val="D9E6DF"/>
                      </a:solidFill>
                      <a:prstDash val="solid"/>
                      <a:round/>
                      <a:headEnd type="none" w="med" len="med"/>
                      <a:tailEnd type="none" w="med" len="med"/>
                    </a:lnL>
                    <a:lnR w="12700" cap="flat" cmpd="sng" algn="ctr">
                      <a:solidFill>
                        <a:srgbClr val="D9E6DF"/>
                      </a:solidFill>
                      <a:prstDash val="solid"/>
                      <a:round/>
                      <a:headEnd type="none" w="med" len="med"/>
                      <a:tailEnd type="none" w="med" len="med"/>
                    </a:lnR>
                    <a:lnT w="12700" cap="flat" cmpd="sng" algn="ctr">
                      <a:solidFill>
                        <a:srgbClr val="17222B"/>
                      </a:solidFill>
                      <a:prstDash val="solid"/>
                      <a:round/>
                      <a:headEnd type="none" w="med" len="med"/>
                      <a:tailEnd type="none" w="med" len="med"/>
                    </a:lnT>
                    <a:lnB w="12700" cap="flat" cmpd="sng" algn="ctr">
                      <a:solidFill>
                        <a:srgbClr val="17222B"/>
                      </a:solidFill>
                      <a:prstDash val="solid"/>
                      <a:round/>
                      <a:headEnd type="none" w="med" len="med"/>
                      <a:tailEnd type="none" w="med" len="med"/>
                    </a:lnB>
                  </a:tcPr>
                </a:tc>
                <a:tc>
                  <a:txBody>
                    <a:bodyPr/>
                    <a:lstStyle/>
                    <a:p>
                      <a:pPr algn="r" indent="0" marL="0">
                        <a:buNone/>
                      </a:pPr>
                      <a:r>
                        <a:rPr lang="en-US" sz="1350" dirty="0">
                          <a:solidFill>
                            <a:srgbClr val="17222B"/>
                          </a:solidFill>
                          <a:latin typeface="Be Vietnam Pro" pitchFamily="34" charset="0"/>
                          <a:ea typeface="Be Vietnam Pro" pitchFamily="34" charset="-122"/>
                          <a:cs typeface="Be Vietnam Pro" pitchFamily="34" charset="-120"/>
                        </a:rPr>
                        <a:t>90</a:t>
                      </a:r>
                      <a:endParaRPr lang="en-US" sz="1350" dirty="0">
                        <a:latin typeface="Be Vietnam Pro" charset="0"/>
                        <a:ea typeface="Be Vietnam Pro" charset="0"/>
                        <a:cs typeface="Be Vietnam Pro" charset="0"/>
                      </a:endParaRPr>
                    </a:p>
                  </a:txBody>
                  <a:tcPr marL="64008" marR="177796" marT="25399" marB="25399" anchor="ctr">
                    <a:lnL w="12700" cap="flat" cmpd="sng" algn="ctr">
                      <a:solidFill>
                        <a:srgbClr val="D9E6DF"/>
                      </a:solidFill>
                      <a:prstDash val="solid"/>
                      <a:round/>
                      <a:headEnd type="none" w="med" len="med"/>
                      <a:tailEnd type="none" w="med" len="med"/>
                    </a:lnL>
                    <a:lnR w="12700" cap="flat" cmpd="sng" algn="ctr">
                      <a:solidFill>
                        <a:srgbClr val="D9E6DF"/>
                      </a:solidFill>
                      <a:prstDash val="solid"/>
                      <a:round/>
                      <a:headEnd type="none" w="med" len="med"/>
                      <a:tailEnd type="none" w="med" len="med"/>
                    </a:lnR>
                    <a:lnT w="12700" cap="flat" cmpd="sng" algn="ctr">
                      <a:solidFill>
                        <a:srgbClr val="17222B"/>
                      </a:solidFill>
                      <a:prstDash val="solid"/>
                      <a:round/>
                      <a:headEnd type="none" w="med" len="med"/>
                      <a:tailEnd type="none" w="med" len="med"/>
                    </a:lnT>
                    <a:lnB w="12700" cap="flat" cmpd="sng" algn="ctr">
                      <a:solidFill>
                        <a:srgbClr val="17222B"/>
                      </a:solidFill>
                      <a:prstDash val="solid"/>
                      <a:round/>
                      <a:headEnd type="none" w="med" len="med"/>
                      <a:tailEnd type="none" w="med" len="med"/>
                    </a:lnB>
                  </a:tcPr>
                </a:tc>
              </a:tr>
              <a:tr h="307967">
                <a:tc>
                  <a:txBody>
                    <a:bodyPr/>
                    <a:lstStyle/>
                    <a:p>
                      <a:pPr algn="l" indent="0" marL="0">
                        <a:buNone/>
                      </a:pPr>
                      <a:r>
                        <a:rPr lang="en-US" sz="1350" dirty="0">
                          <a:solidFill>
                            <a:srgbClr val="17222B"/>
                          </a:solidFill>
                          <a:latin typeface="Be Vietnam Pro" pitchFamily="34" charset="0"/>
                          <a:ea typeface="Be Vietnam Pro" pitchFamily="34" charset="-122"/>
                          <a:cs typeface="Be Vietnam Pro" pitchFamily="34" charset="-120"/>
                        </a:rPr>
                        <a:t>12</a:t>
                      </a:r>
                      <a:endParaRPr lang="en-US" sz="1350" dirty="0">
                        <a:latin typeface="Be Vietnam Pro" charset="0"/>
                        <a:ea typeface="Be Vietnam Pro" charset="0"/>
                        <a:cs typeface="Be Vietnam Pro" charset="0"/>
                      </a:endParaRPr>
                    </a:p>
                  </a:txBody>
                  <a:tcPr marL="64008" marR="177796" marT="25399" marB="25399" anchor="ctr">
                    <a:lnL w="12700" cap="flat" cmpd="sng" algn="ctr">
                      <a:solidFill>
                        <a:srgbClr val="D9E6DF"/>
                      </a:solidFill>
                      <a:prstDash val="solid"/>
                      <a:round/>
                      <a:headEnd type="none" w="med" len="med"/>
                      <a:tailEnd type="none" w="med" len="med"/>
                    </a:lnL>
                    <a:lnR w="12700" cap="flat" cmpd="sng" algn="ctr">
                      <a:solidFill>
                        <a:srgbClr val="D9E6DF"/>
                      </a:solidFill>
                      <a:prstDash val="solid"/>
                      <a:round/>
                      <a:headEnd type="none" w="med" len="med"/>
                      <a:tailEnd type="none" w="med" len="med"/>
                    </a:lnR>
                    <a:lnT w="12700" cap="flat" cmpd="sng" algn="ctr">
                      <a:solidFill>
                        <a:srgbClr val="17222B"/>
                      </a:solidFill>
                      <a:prstDash val="solid"/>
                      <a:round/>
                      <a:headEnd type="none" w="med" len="med"/>
                      <a:tailEnd type="none" w="med" len="med"/>
                    </a:lnT>
                    <a:lnB w="12700" cap="flat" cmpd="sng" algn="ctr">
                      <a:solidFill>
                        <a:srgbClr val="D9E6DF"/>
                      </a:solidFill>
                      <a:prstDash val="solid"/>
                      <a:round/>
                      <a:headEnd type="none" w="med" len="med"/>
                      <a:tailEnd type="none" w="med" len="med"/>
                    </a:lnB>
                  </a:tcPr>
                </a:tc>
                <a:tc>
                  <a:txBody>
                    <a:bodyPr/>
                    <a:lstStyle/>
                    <a:p>
                      <a:pPr algn="r" indent="0" marL="0">
                        <a:buNone/>
                      </a:pPr>
                      <a:r>
                        <a:rPr lang="en-US" sz="1350" dirty="0">
                          <a:solidFill>
                            <a:srgbClr val="17222B"/>
                          </a:solidFill>
                          <a:latin typeface="Be Vietnam Pro" pitchFamily="34" charset="0"/>
                          <a:ea typeface="Be Vietnam Pro" pitchFamily="34" charset="-122"/>
                          <a:cs typeface="Be Vietnam Pro" pitchFamily="34" charset="-120"/>
                        </a:rPr>
                        <a:t>68</a:t>
                      </a:r>
                      <a:endParaRPr lang="en-US" sz="1350" dirty="0">
                        <a:latin typeface="Be Vietnam Pro" charset="0"/>
                        <a:ea typeface="Be Vietnam Pro" charset="0"/>
                        <a:cs typeface="Be Vietnam Pro" charset="0"/>
                      </a:endParaRPr>
                    </a:p>
                  </a:txBody>
                  <a:tcPr marL="64008" marR="177796" marT="25399" marB="25399" anchor="ctr">
                    <a:lnL w="12700" cap="flat" cmpd="sng" algn="ctr">
                      <a:solidFill>
                        <a:srgbClr val="D9E6DF"/>
                      </a:solidFill>
                      <a:prstDash val="solid"/>
                      <a:round/>
                      <a:headEnd type="none" w="med" len="med"/>
                      <a:tailEnd type="none" w="med" len="med"/>
                    </a:lnL>
                    <a:lnR w="12700" cap="flat" cmpd="sng" algn="ctr">
                      <a:solidFill>
                        <a:srgbClr val="D9E6DF"/>
                      </a:solidFill>
                      <a:prstDash val="solid"/>
                      <a:round/>
                      <a:headEnd type="none" w="med" len="med"/>
                      <a:tailEnd type="none" w="med" len="med"/>
                    </a:lnR>
                    <a:lnT w="12700" cap="flat" cmpd="sng" algn="ctr">
                      <a:solidFill>
                        <a:srgbClr val="17222B"/>
                      </a:solidFill>
                      <a:prstDash val="solid"/>
                      <a:round/>
                      <a:headEnd type="none" w="med" len="med"/>
                      <a:tailEnd type="none" w="med" len="med"/>
                    </a:lnT>
                    <a:lnB w="12700" cap="flat" cmpd="sng" algn="ctr">
                      <a:solidFill>
                        <a:srgbClr val="D9E6DF"/>
                      </a:solidFill>
                      <a:prstDash val="solid"/>
                      <a:round/>
                      <a:headEnd type="none" w="med" len="med"/>
                      <a:tailEnd type="none" w="med" len="med"/>
                    </a:lnB>
                  </a:tcPr>
                </a:tc>
                <a:tc>
                  <a:txBody>
                    <a:bodyPr/>
                    <a:lstStyle/>
                    <a:p>
                      <a:pPr algn="l" indent="0" marL="0">
                        <a:buNone/>
                      </a:pPr>
                      <a:r>
                        <a:rPr lang="en-US" sz="1350" dirty="0">
                          <a:solidFill>
                            <a:srgbClr val="17222B"/>
                          </a:solidFill>
                          <a:latin typeface="Be Vietnam Pro" pitchFamily="34" charset="0"/>
                          <a:ea typeface="Be Vietnam Pro" pitchFamily="34" charset="-122"/>
                          <a:cs typeface="Be Vietnam Pro" pitchFamily="34" charset="-120"/>
                        </a:rPr>
                        <a:t>Sample Total</a:t>
                      </a:r>
                      <a:endParaRPr lang="en-US" sz="1350" dirty="0">
                        <a:latin typeface="Be Vietnam Pro" charset="0"/>
                        <a:ea typeface="Be Vietnam Pro" charset="0"/>
                        <a:cs typeface="Be Vietnam Pro" charset="0"/>
                      </a:endParaRPr>
                    </a:p>
                  </a:txBody>
                  <a:tcPr marL="64008" marR="177796" marT="25399" marB="25399" anchor="ctr">
                    <a:lnL w="12700" cap="flat" cmpd="sng" algn="ctr">
                      <a:solidFill>
                        <a:srgbClr val="D9E6DF"/>
                      </a:solidFill>
                      <a:prstDash val="solid"/>
                      <a:round/>
                      <a:headEnd type="none" w="med" len="med"/>
                      <a:tailEnd type="none" w="med" len="med"/>
                    </a:lnL>
                    <a:lnR w="12700" cap="flat" cmpd="sng" algn="ctr">
                      <a:solidFill>
                        <a:srgbClr val="D9E6DF"/>
                      </a:solidFill>
                      <a:prstDash val="solid"/>
                      <a:round/>
                      <a:headEnd type="none" w="med" len="med"/>
                      <a:tailEnd type="none" w="med" len="med"/>
                    </a:lnR>
                    <a:lnT w="12700" cap="flat" cmpd="sng" algn="ctr">
                      <a:solidFill>
                        <a:srgbClr val="17222B"/>
                      </a:solidFill>
                      <a:prstDash val="solid"/>
                      <a:round/>
                      <a:headEnd type="none" w="med" len="med"/>
                      <a:tailEnd type="none" w="med" len="med"/>
                    </a:lnT>
                    <a:lnB w="12700" cap="flat" cmpd="sng" algn="ctr">
                      <a:solidFill>
                        <a:srgbClr val="D9E6DF"/>
                      </a:solidFill>
                      <a:prstDash val="solid"/>
                      <a:round/>
                      <a:headEnd type="none" w="med" len="med"/>
                      <a:tailEnd type="none" w="med" len="med"/>
                    </a:lnB>
                  </a:tcPr>
                </a:tc>
                <a:tc>
                  <a:txBody>
                    <a:bodyPr/>
                    <a:lstStyle/>
                    <a:p>
                      <a:pPr algn="r" indent="0" marL="0">
                        <a:buNone/>
                      </a:pPr>
                      <a:r>
                        <a:rPr lang="en-US" sz="1350" dirty="0">
                          <a:solidFill>
                            <a:srgbClr val="17222B"/>
                          </a:solidFill>
                          <a:latin typeface="Be Vietnam Pro" pitchFamily="34" charset="0"/>
                          <a:ea typeface="Be Vietnam Pro" pitchFamily="34" charset="-122"/>
                          <a:cs typeface="Be Vietnam Pro" pitchFamily="34" charset="-120"/>
                        </a:rPr>
                        <a:t>11 Customers</a:t>
                      </a:r>
                      <a:endParaRPr lang="en-US" sz="1350" dirty="0">
                        <a:latin typeface="Be Vietnam Pro" charset="0"/>
                        <a:ea typeface="Be Vietnam Pro" charset="0"/>
                        <a:cs typeface="Be Vietnam Pro" charset="0"/>
                      </a:endParaRPr>
                    </a:p>
                  </a:txBody>
                  <a:tcPr marL="64008" marR="177796" marT="25399" marB="25399" anchor="ctr">
                    <a:lnL w="12700" cap="flat" cmpd="sng" algn="ctr">
                      <a:solidFill>
                        <a:srgbClr val="D9E6DF"/>
                      </a:solidFill>
                      <a:prstDash val="solid"/>
                      <a:round/>
                      <a:headEnd type="none" w="med" len="med"/>
                      <a:tailEnd type="none" w="med" len="med"/>
                    </a:lnL>
                    <a:lnR w="12700" cap="flat" cmpd="sng" algn="ctr">
                      <a:solidFill>
                        <a:srgbClr val="D9E6DF"/>
                      </a:solidFill>
                      <a:prstDash val="solid"/>
                      <a:round/>
                      <a:headEnd type="none" w="med" len="med"/>
                      <a:tailEnd type="none" w="med" len="med"/>
                    </a:lnR>
                    <a:lnT w="12700" cap="flat" cmpd="sng" algn="ctr">
                      <a:solidFill>
                        <a:srgbClr val="17222B"/>
                      </a:solidFill>
                      <a:prstDash val="solid"/>
                      <a:round/>
                      <a:headEnd type="none" w="med" len="med"/>
                      <a:tailEnd type="none" w="med" len="med"/>
                    </a:lnT>
                    <a:lnB w="12700" cap="flat" cmpd="sng" algn="ctr">
                      <a:solidFill>
                        <a:srgbClr val="D9E6DF"/>
                      </a:solidFill>
                      <a:prstDash val="solid"/>
                      <a:round/>
                      <a:headEnd type="none" w="med" len="med"/>
                      <a:tailEnd type="none" w="med" len="med"/>
                    </a:lnB>
                  </a:tcPr>
                </a:tc>
              </a:tr>
            </a:tbl>
          </a:graphicData>
        </a:graphic>
      </p:graphicFrame>
      <p:sp>
        <p:nvSpPr>
          <p:cNvPr id="7" name="Text 4"/>
          <p:cNvSpPr/>
          <p:nvPr/>
        </p:nvSpPr>
        <p:spPr>
          <a:xfrm>
            <a:off x="457189" y="6163370"/>
            <a:ext cx="11734506" cy="237430"/>
          </a:xfrm>
          <a:prstGeom prst="rect">
            <a:avLst/>
          </a:prstGeom>
          <a:noFill/>
          <a:ln/>
        </p:spPr>
        <p:txBody>
          <a:bodyPr wrap="none" lIns="0" tIns="0" rIns="0" bIns="0" rtlCol="0" anchor="t"/>
          <a:lstStyle/>
          <a:p>
            <a:pPr algn="l" indent="0" marL="0">
              <a:lnSpc>
                <a:spcPct val="142000"/>
              </a:lnSpc>
              <a:buNone/>
            </a:pPr>
            <a:r>
              <a:rPr lang="en-US" sz="1100" spc="132" kern="100" dirty="0">
                <a:solidFill>
                  <a:srgbClr val="44545A"/>
                </a:solidFill>
                <a:latin typeface="Geist Mono" pitchFamily="34" charset="0"/>
                <a:ea typeface="Geist Mono" pitchFamily="34" charset="-122"/>
                <a:cs typeface="Geist Mono" pitchFamily="34" charset="-120"/>
              </a:rPr>
              <a:t>SAMPLE HIGH-SPENDING DISCOUNT USERS · FILTER: DISCOUNT_APPLIED = TRUE AND PURCHASE_AMOUNT &gt; AVERAGE</a:t>
            </a:r>
            <a:endParaRPr lang="en-US" sz="1100" dirty="0"/>
          </a:p>
        </p:txBody>
      </p:sp>
      <p:sp>
        <p:nvSpPr>
          <p:cNvPr id="8" name="Text 5"/>
          <p:cNvSpPr/>
          <p:nvPr/>
        </p:nvSpPr>
        <p:spPr>
          <a:xfrm>
            <a:off x="11818047" y="6534150"/>
            <a:ext cx="373648" cy="190500"/>
          </a:xfrm>
          <a:prstGeom prst="rect">
            <a:avLst/>
          </a:prstGeom>
          <a:noFill/>
          <a:ln/>
        </p:spPr>
        <p:txBody>
          <a:bodyPr wrap="none" lIns="0" tIns="0" rIns="0" bIns="0" rtlCol="0" anchor="ctr"/>
          <a:lstStyle/>
          <a:p>
            <a:pPr algn="l" indent="0" marL="0">
              <a:lnSpc>
                <a:spcPct val="125000"/>
              </a:lnSpc>
              <a:buNone/>
            </a:pPr>
            <a:r>
              <a:rPr lang="en-US" sz="1000" spc="120" kern="100" dirty="0">
                <a:solidFill>
                  <a:srgbClr val="9E2F22"/>
                </a:solidFill>
                <a:latin typeface="Geist Mono" pitchFamily="34" charset="0"/>
                <a:ea typeface="Geist Mono" pitchFamily="34" charset="-122"/>
                <a:cs typeface="Geist Mono" pitchFamily="34" charset="-120"/>
              </a:rPr>
              <a:t>06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189" y="457200"/>
            <a:ext cx="11734506" cy="265410"/>
          </a:xfrm>
          <a:prstGeom prst="rect">
            <a:avLst/>
          </a:prstGeom>
          <a:noFill/>
          <a:ln/>
        </p:spPr>
        <p:txBody>
          <a:bodyPr wrap="none" lIns="0" tIns="0" rIns="0" bIns="0" rtlCol="0" anchor="t"/>
          <a:lstStyle/>
          <a:p>
            <a:pPr algn="l" indent="0" marL="0">
              <a:lnSpc>
                <a:spcPct val="158000"/>
              </a:lnSpc>
              <a:buNone/>
            </a:pPr>
            <a:r>
              <a:rPr lang="en-US" sz="1100" spc="110" kern="100" dirty="0">
                <a:solidFill>
                  <a:srgbClr val="9E2F22"/>
                </a:solidFill>
                <a:latin typeface="Geist Mono" pitchFamily="34" charset="0"/>
                <a:ea typeface="Geist Mono" pitchFamily="34" charset="-122"/>
                <a:cs typeface="Geist Mono" pitchFamily="34" charset="-120"/>
              </a:rPr>
              <a:t>— SQL ANALYSIS 03 · PRODUCT QUALITY</a:t>
            </a:r>
            <a:endParaRPr lang="en-US" sz="1100" dirty="0"/>
          </a:p>
        </p:txBody>
      </p:sp>
      <p:sp>
        <p:nvSpPr>
          <p:cNvPr id="3" name="Text 1"/>
          <p:cNvSpPr/>
          <p:nvPr/>
        </p:nvSpPr>
        <p:spPr>
          <a:xfrm>
            <a:off x="457189" y="882174"/>
            <a:ext cx="11277318" cy="753864"/>
          </a:xfrm>
          <a:prstGeom prst="rect">
            <a:avLst/>
          </a:prstGeom>
          <a:noFill/>
          <a:ln/>
        </p:spPr>
        <p:txBody>
          <a:bodyPr wrap="none" lIns="0" tIns="0" rIns="0" bIns="0" rtlCol="0" anchor="t"/>
          <a:lstStyle/>
          <a:p>
            <a:pPr algn="l" indent="0" marL="0">
              <a:lnSpc>
                <a:spcPct val="88000"/>
              </a:lnSpc>
              <a:buNone/>
            </a:pPr>
            <a:r>
              <a:rPr lang="en-US" sz="5600" dirty="0">
                <a:solidFill>
                  <a:srgbClr val="17222B"/>
                </a:solidFill>
                <a:latin typeface="Noto Serif Display Light" pitchFamily="34" charset="0"/>
                <a:ea typeface="Noto Serif Display Light" pitchFamily="34" charset="-122"/>
                <a:cs typeface="Noto Serif Display Light" pitchFamily="34" charset="-120"/>
              </a:rPr>
              <a:t>TOP 5 PRODUCTS BY RATING</a:t>
            </a:r>
            <a:endParaRPr lang="en-US" sz="5600" dirty="0"/>
          </a:p>
        </p:txBody>
      </p:sp>
      <p:sp>
        <p:nvSpPr>
          <p:cNvPr id="4" name="Shape 2"/>
          <p:cNvSpPr/>
          <p:nvPr/>
        </p:nvSpPr>
        <p:spPr>
          <a:xfrm>
            <a:off x="457189" y="2029023"/>
            <a:ext cx="1409665" cy="12601"/>
          </a:xfrm>
          <a:prstGeom prst="roundRect">
            <a:avLst>
              <a:gd name="adj" fmla="val 49998"/>
            </a:avLst>
          </a:prstGeom>
          <a:solidFill>
            <a:srgbClr val="9E2F22"/>
          </a:solidFill>
          <a:ln/>
        </p:spPr>
      </p:sp>
      <p:sp>
        <p:nvSpPr>
          <p:cNvPr id="5" name="Text 3"/>
          <p:cNvSpPr/>
          <p:nvPr/>
        </p:nvSpPr>
        <p:spPr>
          <a:xfrm>
            <a:off x="457189" y="2447727"/>
            <a:ext cx="11734506" cy="285750"/>
          </a:xfrm>
          <a:prstGeom prst="rect">
            <a:avLst/>
          </a:prstGeom>
          <a:noFill/>
          <a:ln/>
        </p:spPr>
        <p:txBody>
          <a:bodyPr wrap="none" lIns="0" tIns="0" rIns="0" bIns="0" rtlCol="0" anchor="t"/>
          <a:lstStyle/>
          <a:p>
            <a:pPr algn="l" indent="0" marL="0">
              <a:lnSpc>
                <a:spcPct val="125000"/>
              </a:lnSpc>
              <a:buNone/>
            </a:pPr>
            <a:r>
              <a:rPr lang="en-US" sz="1500" dirty="0">
                <a:solidFill>
                  <a:srgbClr val="17222B"/>
                </a:solidFill>
                <a:latin typeface="Be Vietnam Pro" pitchFamily="34" charset="0"/>
                <a:ea typeface="Be Vietnam Pro" pitchFamily="34" charset="-122"/>
                <a:cs typeface="Be Vietnam Pro" pitchFamily="34" charset="-120"/>
              </a:rPr>
              <a:t>Products with the highest average review ratings.</a:t>
            </a:r>
            <a:endParaRPr lang="en-US" sz="1500" dirty="0"/>
          </a:p>
        </p:txBody>
      </p:sp>
      <p:sp>
        <p:nvSpPr>
          <p:cNvPr id="6" name="Text 4"/>
          <p:cNvSpPr/>
          <p:nvPr/>
        </p:nvSpPr>
        <p:spPr>
          <a:xfrm>
            <a:off x="457189" y="3303290"/>
            <a:ext cx="3792046" cy="711200"/>
          </a:xfrm>
          <a:prstGeom prst="rect">
            <a:avLst/>
          </a:prstGeom>
          <a:noFill/>
          <a:ln/>
        </p:spPr>
        <p:txBody>
          <a:bodyPr wrap="none" lIns="0" tIns="0" rIns="0" bIns="0" rtlCol="0" anchor="t"/>
          <a:lstStyle/>
          <a:p>
            <a:pPr algn="l" indent="0" marL="0">
              <a:lnSpc>
                <a:spcPct val="83000"/>
              </a:lnSpc>
              <a:buNone/>
            </a:pPr>
            <a:r>
              <a:rPr lang="en-US" sz="5600" dirty="0">
                <a:solidFill>
                  <a:srgbClr val="9E2F22"/>
                </a:solidFill>
                <a:latin typeface="Noto Serif Display Light" pitchFamily="34" charset="0"/>
                <a:ea typeface="Noto Serif Display Light" pitchFamily="34" charset="-122"/>
                <a:cs typeface="Noto Serif Display Light" pitchFamily="34" charset="-120"/>
              </a:rPr>
              <a:t>3.86</a:t>
            </a:r>
            <a:endParaRPr lang="en-US" sz="5600" dirty="0"/>
          </a:p>
        </p:txBody>
      </p:sp>
      <p:sp>
        <p:nvSpPr>
          <p:cNvPr id="7" name="Text 5"/>
          <p:cNvSpPr/>
          <p:nvPr/>
        </p:nvSpPr>
        <p:spPr>
          <a:xfrm>
            <a:off x="457189" y="4037191"/>
            <a:ext cx="3792046" cy="1079897"/>
          </a:xfrm>
          <a:prstGeom prst="rect">
            <a:avLst/>
          </a:prstGeom>
          <a:noFill/>
          <a:ln/>
        </p:spPr>
        <p:txBody>
          <a:bodyPr wrap="square" lIns="0" tIns="0" rIns="0" bIns="0" rtlCol="0" anchor="t">
            <a:normAutofit/>
          </a:bodyPr>
          <a:lstStyle/>
          <a:p>
            <a:pPr algn="l" indent="0" marL="0">
              <a:lnSpc>
                <a:spcPct val="113000"/>
              </a:lnSpc>
              <a:buNone/>
            </a:pPr>
            <a:r>
              <a:rPr lang="en-US" sz="2100" i="1" spc="21" kern="100" dirty="0">
                <a:solidFill>
                  <a:srgbClr val="44545A"/>
                </a:solidFill>
                <a:latin typeface="Be Vietnam Pro Medium" pitchFamily="34" charset="0"/>
                <a:ea typeface="Be Vietnam Pro Medium" pitchFamily="34" charset="-122"/>
                <a:cs typeface="Be Vietnam Pro Medium" pitchFamily="34" charset="-120"/>
              </a:rPr>
              <a:t>The five highest average product ratings range from 3.78 to 3.86.</a:t>
            </a:r>
            <a:endParaRPr lang="en-US" sz="2100" dirty="0"/>
          </a:p>
        </p:txBody>
      </p:sp>
      <p:sp>
        <p:nvSpPr>
          <p:cNvPr id="8" name="Text 6"/>
          <p:cNvSpPr/>
          <p:nvPr/>
        </p:nvSpPr>
        <p:spPr>
          <a:xfrm>
            <a:off x="457189" y="5243612"/>
            <a:ext cx="3792046" cy="857250"/>
          </a:xfrm>
          <a:prstGeom prst="rect">
            <a:avLst/>
          </a:prstGeom>
          <a:noFill/>
          <a:ln/>
        </p:spPr>
        <p:txBody>
          <a:bodyPr wrap="square" lIns="0" tIns="0" rIns="0" bIns="0" rtlCol="0" anchor="t">
            <a:normAutofit/>
          </a:bodyPr>
          <a:lstStyle/>
          <a:p>
            <a:pPr algn="l" indent="0" marL="0">
              <a:lnSpc>
                <a:spcPct val="125000"/>
              </a:lnSpc>
              <a:buNone/>
            </a:pPr>
            <a:r>
              <a:rPr lang="en-US" sz="1500" dirty="0">
                <a:solidFill>
                  <a:srgbClr val="44545A"/>
                </a:solidFill>
                <a:latin typeface="Be Vietnam Pro" pitchFamily="34" charset="0"/>
                <a:ea typeface="Be Vietnam Pro" pitchFamily="34" charset="-122"/>
                <a:cs typeface="Be Vietnam Pro" pitchFamily="34" charset="-120"/>
              </a:rPr>
              <a:t>Gloves leads with a 3.86 average rating, followed closely by Sandals, Boots, Hat, and Skirt.</a:t>
            </a:r>
            <a:endParaRPr lang="en-US" sz="1500" dirty="0"/>
          </a:p>
        </p:txBody>
      </p:sp>
      <p:pic>
        <p:nvPicPr>
          <p:cNvPr id="9" name="Image 0" descr="preencoded.png">    </p:cNvPr>
          <p:cNvPicPr>
            <a:picLocks noChangeAspect="1"/>
          </p:cNvPicPr>
          <p:nvPr/>
        </p:nvPicPr>
        <p:blipFill>
          <a:blip r:embed="rId1"/>
          <a:stretch>
            <a:fillRect/>
          </a:stretch>
        </p:blipFill>
        <p:spPr>
          <a:xfrm>
            <a:off x="4935017" y="3067248"/>
            <a:ext cx="6603835" cy="2857500"/>
          </a:xfrm>
          <a:prstGeom prst="rect">
            <a:avLst/>
          </a:prstGeom>
        </p:spPr>
      </p:pic>
      <p:sp>
        <p:nvSpPr>
          <p:cNvPr id="10" name="Text 7"/>
          <p:cNvSpPr/>
          <p:nvPr/>
        </p:nvSpPr>
        <p:spPr>
          <a:xfrm>
            <a:off x="4935017" y="6000948"/>
            <a:ext cx="6799489" cy="237430"/>
          </a:xfrm>
          <a:prstGeom prst="rect">
            <a:avLst/>
          </a:prstGeom>
          <a:noFill/>
          <a:ln/>
        </p:spPr>
        <p:txBody>
          <a:bodyPr wrap="none" lIns="0" tIns="0" rIns="0" bIns="0" rtlCol="0" anchor="t"/>
          <a:lstStyle/>
          <a:p>
            <a:pPr algn="l" indent="0" marL="0">
              <a:lnSpc>
                <a:spcPct val="142000"/>
              </a:lnSpc>
              <a:buNone/>
            </a:pPr>
            <a:r>
              <a:rPr lang="en-US" sz="1100" spc="132" kern="100" dirty="0">
                <a:solidFill>
                  <a:srgbClr val="44545A"/>
                </a:solidFill>
                <a:latin typeface="Geist Mono" pitchFamily="34" charset="0"/>
                <a:ea typeface="Geist Mono" pitchFamily="34" charset="-122"/>
                <a:cs typeface="Geist Mono" pitchFamily="34" charset="-120"/>
              </a:rPr>
              <a:t>AVERAGE PRODUCT RATING OUT OF 5.0 · TOP 5 RANKED ITEMS</a:t>
            </a:r>
            <a:endParaRPr lang="en-US" sz="1100" dirty="0"/>
          </a:p>
        </p:txBody>
      </p:sp>
      <p:sp>
        <p:nvSpPr>
          <p:cNvPr id="11" name="Shape 8"/>
          <p:cNvSpPr/>
          <p:nvPr/>
        </p:nvSpPr>
        <p:spPr>
          <a:xfrm>
            <a:off x="4576251" y="2904927"/>
            <a:ext cx="31749" cy="3495873"/>
          </a:xfrm>
          <a:prstGeom prst="rect">
            <a:avLst/>
          </a:prstGeom>
          <a:solidFill>
            <a:srgbClr val="808080">
              <a:alpha val="35000"/>
            </a:srgbClr>
          </a:solidFill>
          <a:ln/>
        </p:spPr>
      </p:sp>
      <p:sp>
        <p:nvSpPr>
          <p:cNvPr id="12" name="Text 9"/>
          <p:cNvSpPr/>
          <p:nvPr/>
        </p:nvSpPr>
        <p:spPr>
          <a:xfrm>
            <a:off x="11818047" y="6534150"/>
            <a:ext cx="373648" cy="190500"/>
          </a:xfrm>
          <a:prstGeom prst="rect">
            <a:avLst/>
          </a:prstGeom>
          <a:noFill/>
          <a:ln/>
        </p:spPr>
        <p:txBody>
          <a:bodyPr wrap="none" lIns="0" tIns="0" rIns="0" bIns="0" rtlCol="0" anchor="ctr"/>
          <a:lstStyle/>
          <a:p>
            <a:pPr algn="l" indent="0" marL="0">
              <a:lnSpc>
                <a:spcPct val="125000"/>
              </a:lnSpc>
              <a:buNone/>
            </a:pPr>
            <a:r>
              <a:rPr lang="en-US" sz="1000" spc="120" kern="100" dirty="0">
                <a:solidFill>
                  <a:srgbClr val="9E2F22"/>
                </a:solidFill>
                <a:latin typeface="Geist Mono" pitchFamily="34" charset="0"/>
                <a:ea typeface="Geist Mono" pitchFamily="34" charset="-122"/>
                <a:cs typeface="Geist Mono" pitchFamily="34" charset="-120"/>
              </a:rPr>
              <a:t>07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189" y="457200"/>
            <a:ext cx="11734506" cy="265410"/>
          </a:xfrm>
          <a:prstGeom prst="rect">
            <a:avLst/>
          </a:prstGeom>
          <a:noFill/>
          <a:ln/>
        </p:spPr>
        <p:txBody>
          <a:bodyPr wrap="none" lIns="0" tIns="0" rIns="0" bIns="0" rtlCol="0" anchor="t"/>
          <a:lstStyle/>
          <a:p>
            <a:pPr algn="l" indent="0" marL="0">
              <a:lnSpc>
                <a:spcPct val="158000"/>
              </a:lnSpc>
              <a:buNone/>
            </a:pPr>
            <a:r>
              <a:rPr lang="en-US" sz="1100" spc="110" kern="100" dirty="0">
                <a:solidFill>
                  <a:srgbClr val="9E2F22"/>
                </a:solidFill>
                <a:latin typeface="Geist Mono" pitchFamily="34" charset="0"/>
                <a:ea typeface="Geist Mono" pitchFamily="34" charset="-122"/>
                <a:cs typeface="Geist Mono" pitchFamily="34" charset="-120"/>
              </a:rPr>
              <a:t>— SQL ANALYSIS 04 · LOGISTICS &amp; FULFILLMENT</a:t>
            </a:r>
            <a:endParaRPr lang="en-US" sz="1100" dirty="0"/>
          </a:p>
        </p:txBody>
      </p:sp>
      <p:sp>
        <p:nvSpPr>
          <p:cNvPr id="3" name="Text 1"/>
          <p:cNvSpPr/>
          <p:nvPr/>
        </p:nvSpPr>
        <p:spPr>
          <a:xfrm>
            <a:off x="457189" y="882174"/>
            <a:ext cx="11277318" cy="753864"/>
          </a:xfrm>
          <a:prstGeom prst="rect">
            <a:avLst/>
          </a:prstGeom>
          <a:noFill/>
          <a:ln/>
        </p:spPr>
        <p:txBody>
          <a:bodyPr wrap="none" lIns="0" tIns="0" rIns="0" bIns="0" rtlCol="0" anchor="t"/>
          <a:lstStyle/>
          <a:p>
            <a:pPr algn="l" indent="0" marL="0">
              <a:lnSpc>
                <a:spcPct val="88000"/>
              </a:lnSpc>
              <a:buNone/>
            </a:pPr>
            <a:r>
              <a:rPr lang="en-US" sz="5600" dirty="0">
                <a:solidFill>
                  <a:srgbClr val="17222B"/>
                </a:solidFill>
                <a:latin typeface="Noto Serif Display Light" pitchFamily="34" charset="0"/>
                <a:ea typeface="Noto Serif Display Light" pitchFamily="34" charset="-122"/>
                <a:cs typeface="Noto Serif Display Light" pitchFamily="34" charset="-120"/>
              </a:rPr>
              <a:t>SHIPPING TYPE COMPARISON</a:t>
            </a:r>
            <a:endParaRPr lang="en-US" sz="5600" dirty="0"/>
          </a:p>
        </p:txBody>
      </p:sp>
      <p:sp>
        <p:nvSpPr>
          <p:cNvPr id="4" name="Shape 2"/>
          <p:cNvSpPr/>
          <p:nvPr/>
        </p:nvSpPr>
        <p:spPr>
          <a:xfrm>
            <a:off x="457189" y="2029023"/>
            <a:ext cx="1409665" cy="12601"/>
          </a:xfrm>
          <a:prstGeom prst="roundRect">
            <a:avLst>
              <a:gd name="adj" fmla="val 49998"/>
            </a:avLst>
          </a:prstGeom>
          <a:solidFill>
            <a:srgbClr val="9E2F22"/>
          </a:solidFill>
          <a:ln/>
        </p:spPr>
      </p:sp>
      <p:sp>
        <p:nvSpPr>
          <p:cNvPr id="5" name="Text 3"/>
          <p:cNvSpPr/>
          <p:nvPr/>
        </p:nvSpPr>
        <p:spPr>
          <a:xfrm>
            <a:off x="457189" y="2447727"/>
            <a:ext cx="11734506" cy="285750"/>
          </a:xfrm>
          <a:prstGeom prst="rect">
            <a:avLst/>
          </a:prstGeom>
          <a:noFill/>
          <a:ln/>
        </p:spPr>
        <p:txBody>
          <a:bodyPr wrap="none" lIns="0" tIns="0" rIns="0" bIns="0" rtlCol="0" anchor="t"/>
          <a:lstStyle/>
          <a:p>
            <a:pPr algn="l" indent="0" marL="0">
              <a:lnSpc>
                <a:spcPct val="125000"/>
              </a:lnSpc>
              <a:buNone/>
            </a:pPr>
            <a:r>
              <a:rPr lang="en-US" sz="1500" dirty="0">
                <a:solidFill>
                  <a:srgbClr val="17222B"/>
                </a:solidFill>
                <a:latin typeface="Be Vietnam Pro" pitchFamily="34" charset="0"/>
                <a:ea typeface="Be Vietnam Pro" pitchFamily="34" charset="-122"/>
                <a:cs typeface="Be Vietnam Pro" pitchFamily="34" charset="-120"/>
              </a:rPr>
              <a:t>Compared average purchase amounts between Standard and Express shipping.</a:t>
            </a:r>
            <a:endParaRPr lang="en-US" sz="1500" dirty="0"/>
          </a:p>
        </p:txBody>
      </p:sp>
      <p:sp>
        <p:nvSpPr>
          <p:cNvPr id="6" name="Text 4"/>
          <p:cNvSpPr/>
          <p:nvPr/>
        </p:nvSpPr>
        <p:spPr>
          <a:xfrm>
            <a:off x="457189" y="3303290"/>
            <a:ext cx="3792046" cy="711200"/>
          </a:xfrm>
          <a:prstGeom prst="rect">
            <a:avLst/>
          </a:prstGeom>
          <a:noFill/>
          <a:ln/>
        </p:spPr>
        <p:txBody>
          <a:bodyPr wrap="none" lIns="0" tIns="0" rIns="0" bIns="0" rtlCol="0" anchor="t"/>
          <a:lstStyle/>
          <a:p>
            <a:pPr algn="l" indent="0" marL="0">
              <a:lnSpc>
                <a:spcPct val="83000"/>
              </a:lnSpc>
              <a:buNone/>
            </a:pPr>
            <a:r>
              <a:rPr lang="en-US" sz="5600" dirty="0">
                <a:solidFill>
                  <a:srgbClr val="9E2F22"/>
                </a:solidFill>
                <a:latin typeface="Noto Serif Display Light" pitchFamily="34" charset="0"/>
                <a:ea typeface="Noto Serif Display Light" pitchFamily="34" charset="-122"/>
                <a:cs typeface="Noto Serif Display Light" pitchFamily="34" charset="-120"/>
              </a:rPr>
              <a:t>$60.48</a:t>
            </a:r>
            <a:endParaRPr lang="en-US" sz="5600" dirty="0"/>
          </a:p>
        </p:txBody>
      </p:sp>
      <p:sp>
        <p:nvSpPr>
          <p:cNvPr id="7" name="Text 5"/>
          <p:cNvSpPr/>
          <p:nvPr/>
        </p:nvSpPr>
        <p:spPr>
          <a:xfrm>
            <a:off x="457189" y="4037191"/>
            <a:ext cx="3792046" cy="1079897"/>
          </a:xfrm>
          <a:prstGeom prst="rect">
            <a:avLst/>
          </a:prstGeom>
          <a:noFill/>
          <a:ln/>
        </p:spPr>
        <p:txBody>
          <a:bodyPr wrap="square" lIns="0" tIns="0" rIns="0" bIns="0" rtlCol="0" anchor="t">
            <a:normAutofit/>
          </a:bodyPr>
          <a:lstStyle/>
          <a:p>
            <a:pPr algn="l" indent="0" marL="0">
              <a:lnSpc>
                <a:spcPct val="113000"/>
              </a:lnSpc>
              <a:buNone/>
            </a:pPr>
            <a:r>
              <a:rPr lang="en-US" sz="2100" i="1" spc="21" kern="100" dirty="0">
                <a:solidFill>
                  <a:srgbClr val="44545A"/>
                </a:solidFill>
                <a:latin typeface="Be Vietnam Pro Medium" pitchFamily="34" charset="0"/>
                <a:ea typeface="Be Vietnam Pro Medium" pitchFamily="34" charset="-122"/>
                <a:cs typeface="Be Vietnam Pro Medium" pitchFamily="34" charset="-120"/>
              </a:rPr>
              <a:t>Average purchase amounts were close for Standard and Express shipping.</a:t>
            </a:r>
            <a:endParaRPr lang="en-US" sz="2100" dirty="0"/>
          </a:p>
        </p:txBody>
      </p:sp>
      <p:sp>
        <p:nvSpPr>
          <p:cNvPr id="8" name="Text 6"/>
          <p:cNvSpPr/>
          <p:nvPr/>
        </p:nvSpPr>
        <p:spPr>
          <a:xfrm>
            <a:off x="457189" y="5243612"/>
            <a:ext cx="3792046" cy="857250"/>
          </a:xfrm>
          <a:prstGeom prst="rect">
            <a:avLst/>
          </a:prstGeom>
          <a:noFill/>
          <a:ln/>
        </p:spPr>
        <p:txBody>
          <a:bodyPr wrap="square" lIns="0" tIns="0" rIns="0" bIns="0" rtlCol="0" anchor="t">
            <a:normAutofit/>
          </a:bodyPr>
          <a:lstStyle/>
          <a:p>
            <a:pPr algn="l" indent="0" marL="0">
              <a:lnSpc>
                <a:spcPct val="125000"/>
              </a:lnSpc>
              <a:buNone/>
            </a:pPr>
            <a:r>
              <a:rPr lang="en-US" sz="1500" dirty="0">
                <a:solidFill>
                  <a:srgbClr val="44545A"/>
                </a:solidFill>
                <a:latin typeface="Be Vietnam Pro" pitchFamily="34" charset="0"/>
                <a:ea typeface="Be Vietnam Pro" pitchFamily="34" charset="-122"/>
                <a:cs typeface="Be Vietnam Pro" pitchFamily="34" charset="-120"/>
              </a:rPr>
              <a:t>Express shipping averaged $60.48 per order compared to $58.46 for Standard shipping.</a:t>
            </a:r>
            <a:endParaRPr lang="en-US" sz="1500" dirty="0"/>
          </a:p>
        </p:txBody>
      </p:sp>
      <p:pic>
        <p:nvPicPr>
          <p:cNvPr id="9" name="Image 0" descr="preencoded.png">    </p:cNvPr>
          <p:cNvPicPr>
            <a:picLocks noChangeAspect="1"/>
          </p:cNvPicPr>
          <p:nvPr/>
        </p:nvPicPr>
        <p:blipFill>
          <a:blip r:embed="rId1"/>
          <a:stretch>
            <a:fillRect/>
          </a:stretch>
        </p:blipFill>
        <p:spPr>
          <a:xfrm>
            <a:off x="4935017" y="3098998"/>
            <a:ext cx="6603835" cy="2794000"/>
          </a:xfrm>
          <a:prstGeom prst="rect">
            <a:avLst/>
          </a:prstGeom>
        </p:spPr>
      </p:pic>
      <p:sp>
        <p:nvSpPr>
          <p:cNvPr id="10" name="Text 7"/>
          <p:cNvSpPr/>
          <p:nvPr/>
        </p:nvSpPr>
        <p:spPr>
          <a:xfrm>
            <a:off x="4935017" y="5969198"/>
            <a:ext cx="6799489" cy="237430"/>
          </a:xfrm>
          <a:prstGeom prst="rect">
            <a:avLst/>
          </a:prstGeom>
          <a:noFill/>
          <a:ln/>
        </p:spPr>
        <p:txBody>
          <a:bodyPr wrap="none" lIns="0" tIns="0" rIns="0" bIns="0" rtlCol="0" anchor="t"/>
          <a:lstStyle/>
          <a:p>
            <a:pPr algn="l" indent="0" marL="0">
              <a:lnSpc>
                <a:spcPct val="142000"/>
              </a:lnSpc>
              <a:buNone/>
            </a:pPr>
            <a:r>
              <a:rPr lang="en-US" sz="1100" spc="132" kern="100" dirty="0">
                <a:solidFill>
                  <a:srgbClr val="44545A"/>
                </a:solidFill>
                <a:latin typeface="Geist Mono" pitchFamily="34" charset="0"/>
                <a:ea typeface="Geist Mono" pitchFamily="34" charset="-122"/>
                <a:cs typeface="Geist Mono" pitchFamily="34" charset="-120"/>
              </a:rPr>
              <a:t>AVERAGE PURCHASE AMOUNT BY SHIPPING TYPE IN USD</a:t>
            </a:r>
            <a:endParaRPr lang="en-US" sz="1100" dirty="0"/>
          </a:p>
        </p:txBody>
      </p:sp>
      <p:sp>
        <p:nvSpPr>
          <p:cNvPr id="11" name="Shape 8"/>
          <p:cNvSpPr/>
          <p:nvPr/>
        </p:nvSpPr>
        <p:spPr>
          <a:xfrm>
            <a:off x="4576251" y="2904927"/>
            <a:ext cx="31749" cy="3495873"/>
          </a:xfrm>
          <a:prstGeom prst="rect">
            <a:avLst/>
          </a:prstGeom>
          <a:solidFill>
            <a:srgbClr val="808080">
              <a:alpha val="35000"/>
            </a:srgbClr>
          </a:solidFill>
          <a:ln/>
        </p:spPr>
      </p:sp>
      <p:sp>
        <p:nvSpPr>
          <p:cNvPr id="12" name="Text 9"/>
          <p:cNvSpPr/>
          <p:nvPr/>
        </p:nvSpPr>
        <p:spPr>
          <a:xfrm>
            <a:off x="11818047" y="6534150"/>
            <a:ext cx="373648" cy="190500"/>
          </a:xfrm>
          <a:prstGeom prst="rect">
            <a:avLst/>
          </a:prstGeom>
          <a:noFill/>
          <a:ln/>
        </p:spPr>
        <p:txBody>
          <a:bodyPr wrap="none" lIns="0" tIns="0" rIns="0" bIns="0" rtlCol="0" anchor="ctr"/>
          <a:lstStyle/>
          <a:p>
            <a:pPr algn="l" indent="0" marL="0">
              <a:lnSpc>
                <a:spcPct val="125000"/>
              </a:lnSpc>
              <a:buNone/>
            </a:pPr>
            <a:r>
              <a:rPr lang="en-US" sz="1000" spc="120" kern="100" dirty="0">
                <a:solidFill>
                  <a:srgbClr val="9E2F22"/>
                </a:solidFill>
                <a:latin typeface="Geist Mono" pitchFamily="34" charset="0"/>
                <a:ea typeface="Geist Mono" pitchFamily="34" charset="-122"/>
                <a:cs typeface="Geist Mono" pitchFamily="34" charset="-120"/>
              </a:rPr>
              <a:t>08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189" y="457200"/>
            <a:ext cx="11734506" cy="258564"/>
          </a:xfrm>
          <a:prstGeom prst="rect">
            <a:avLst/>
          </a:prstGeom>
          <a:noFill/>
          <a:ln/>
        </p:spPr>
        <p:txBody>
          <a:bodyPr wrap="none" lIns="0" tIns="0" rIns="0" bIns="0" rtlCol="0" anchor="t"/>
          <a:lstStyle/>
          <a:p>
            <a:pPr algn="l" indent="0" marL="0">
              <a:lnSpc>
                <a:spcPct val="158000"/>
              </a:lnSpc>
              <a:buNone/>
            </a:pPr>
            <a:r>
              <a:rPr lang="en-US" sz="1050" spc="107" kern="100" dirty="0">
                <a:solidFill>
                  <a:srgbClr val="9E2F22"/>
                </a:solidFill>
                <a:latin typeface="Geist Mono" pitchFamily="34" charset="0"/>
                <a:ea typeface="Geist Mono" pitchFamily="34" charset="-122"/>
                <a:cs typeface="Geist Mono" pitchFamily="34" charset="-120"/>
              </a:rPr>
              <a:t>— SQL ANALYSIS 05 · SUBSCRIPTION PROGRAM</a:t>
            </a:r>
            <a:endParaRPr lang="en-US" sz="1050" dirty="0"/>
          </a:p>
        </p:txBody>
      </p:sp>
      <p:sp>
        <p:nvSpPr>
          <p:cNvPr id="3" name="Text 1"/>
          <p:cNvSpPr/>
          <p:nvPr/>
        </p:nvSpPr>
        <p:spPr>
          <a:xfrm>
            <a:off x="457189" y="868628"/>
            <a:ext cx="11277318" cy="1468438"/>
          </a:xfrm>
          <a:prstGeom prst="rect">
            <a:avLst/>
          </a:prstGeom>
          <a:noFill/>
          <a:ln/>
        </p:spPr>
        <p:txBody>
          <a:bodyPr wrap="square" lIns="0" tIns="0" rIns="0" bIns="0" rtlCol="0" anchor="t">
            <a:normAutofit/>
          </a:bodyPr>
          <a:lstStyle/>
          <a:p>
            <a:pPr algn="l" indent="0" marL="0">
              <a:lnSpc>
                <a:spcPct val="88000"/>
              </a:lnSpc>
              <a:buNone/>
            </a:pPr>
            <a:r>
              <a:rPr lang="en-US" sz="5450" dirty="0">
                <a:solidFill>
                  <a:srgbClr val="17222B"/>
                </a:solidFill>
                <a:latin typeface="Noto Serif Display Light" pitchFamily="34" charset="0"/>
                <a:ea typeface="Noto Serif Display Light" pitchFamily="34" charset="-122"/>
                <a:cs typeface="Noto Serif Display Light" pitchFamily="34" charset="-120"/>
              </a:rPr>
              <a:t>SUBSCRIBERS VS. NON-SUBSCRIBERS</a:t>
            </a:r>
            <a:endParaRPr lang="en-US" sz="5450" dirty="0"/>
          </a:p>
        </p:txBody>
      </p:sp>
      <p:sp>
        <p:nvSpPr>
          <p:cNvPr id="4" name="Shape 2"/>
          <p:cNvSpPr/>
          <p:nvPr/>
        </p:nvSpPr>
        <p:spPr>
          <a:xfrm>
            <a:off x="457189" y="2660749"/>
            <a:ext cx="1409665" cy="12601"/>
          </a:xfrm>
          <a:prstGeom prst="roundRect">
            <a:avLst>
              <a:gd name="adj" fmla="val 49998"/>
            </a:avLst>
          </a:prstGeom>
          <a:solidFill>
            <a:srgbClr val="9E2F22"/>
          </a:solidFill>
          <a:ln/>
        </p:spPr>
      </p:sp>
      <p:sp>
        <p:nvSpPr>
          <p:cNvPr id="5" name="Text 3"/>
          <p:cNvSpPr/>
          <p:nvPr/>
        </p:nvSpPr>
        <p:spPr>
          <a:xfrm>
            <a:off x="457189" y="3059708"/>
            <a:ext cx="11734506" cy="274638"/>
          </a:xfrm>
          <a:prstGeom prst="rect">
            <a:avLst/>
          </a:prstGeom>
          <a:noFill/>
          <a:ln/>
        </p:spPr>
        <p:txBody>
          <a:bodyPr wrap="none" lIns="0" tIns="0" rIns="0" bIns="0" rtlCol="0" anchor="t"/>
          <a:lstStyle/>
          <a:p>
            <a:pPr algn="l" indent="0" marL="0">
              <a:lnSpc>
                <a:spcPct val="123000"/>
              </a:lnSpc>
              <a:buNone/>
            </a:pPr>
            <a:r>
              <a:rPr lang="en-US" sz="1450" dirty="0">
                <a:solidFill>
                  <a:srgbClr val="17222B"/>
                </a:solidFill>
                <a:latin typeface="Be Vietnam Pro" pitchFamily="34" charset="0"/>
                <a:ea typeface="Be Vietnam Pro" pitchFamily="34" charset="-122"/>
                <a:cs typeface="Be Vietnam Pro" pitchFamily="34" charset="-120"/>
              </a:rPr>
              <a:t>Compared average spend and total revenue across subscription status.</a:t>
            </a:r>
            <a:endParaRPr lang="en-US" sz="145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189" y="3496965"/>
          <a:ext cx="11277318" cy="914400"/>
        </p:xfrm>
        <a:graphic>
          <a:graphicData uri="http://schemas.openxmlformats.org/drawingml/2006/table">
            <a:tbl>
              <a:tblPr/>
              <a:tblGrid>
                <a:gridCol w="2932039"/>
                <a:gridCol w="2706521"/>
                <a:gridCol w="2706521"/>
                <a:gridCol w="2932238"/>
              </a:tblGrid>
              <a:tr h="411053">
                <a:tc>
                  <a:txBody>
                    <a:bodyPr/>
                    <a:lstStyle/>
                    <a:p>
                      <a:pPr algn="l" indent="0" marL="0">
                        <a:buNone/>
                      </a:pPr>
                      <a:r>
                        <a:rPr lang="en-US" sz="1050" spc="107" kern="100" dirty="0">
                          <a:solidFill>
                            <a:srgbClr val="44545A"/>
                          </a:solidFill>
                          <a:latin typeface="Geist Mono" pitchFamily="34" charset="0"/>
                          <a:ea typeface="Geist Mono" pitchFamily="34" charset="-122"/>
                          <a:cs typeface="Geist Mono" pitchFamily="34" charset="-120"/>
                        </a:rPr>
                        <a:t>SUBSCRIPTION STATUS</a:t>
                      </a:r>
                      <a:endParaRPr lang="en-US" sz="1050" dirty="0">
                        <a:latin typeface="Geist Mono" charset="0"/>
                        <a:ea typeface="Geist Mono" charset="0"/>
                        <a:cs typeface="Geist Mono" charset="0"/>
                      </a:endParaRPr>
                    </a:p>
                  </a:txBody>
                  <a:tcPr marL="50799" marR="203195" marT="101598" marB="101598" anchor="ctr">
                    <a:lnL w="12700" cap="flat" cmpd="sng" algn="ctr">
                      <a:solidFill>
                        <a:srgbClr val="D9E6DF"/>
                      </a:solidFill>
                      <a:prstDash val="solid"/>
                      <a:round/>
                      <a:headEnd type="none" w="med" len="med"/>
                      <a:tailEnd type="none" w="med" len="med"/>
                    </a:lnL>
                    <a:lnR w="12700" cap="flat" cmpd="sng" algn="ctr">
                      <a:solidFill>
                        <a:srgbClr val="D9E6DF"/>
                      </a:solidFill>
                      <a:prstDash val="solid"/>
                      <a:round/>
                      <a:headEnd type="none" w="med" len="med"/>
                      <a:tailEnd type="none" w="med" len="med"/>
                    </a:lnR>
                    <a:lnT w="12700" cap="flat" cmpd="sng" algn="ctr">
                      <a:solidFill>
                        <a:srgbClr val="D9E6DF"/>
                      </a:solidFill>
                      <a:prstDash val="solid"/>
                      <a:round/>
                      <a:headEnd type="none" w="med" len="med"/>
                      <a:tailEnd type="none" w="med" len="med"/>
                    </a:lnT>
                    <a:lnB w="12700" cap="flat" cmpd="sng" algn="ctr">
                      <a:solidFill>
                        <a:srgbClr val="17222B"/>
                      </a:solidFill>
                      <a:prstDash val="solid"/>
                      <a:round/>
                      <a:headEnd type="none" w="med" len="med"/>
                      <a:tailEnd type="none" w="med" len="med"/>
                    </a:lnB>
                  </a:tcPr>
                </a:tc>
                <a:tc>
                  <a:txBody>
                    <a:bodyPr/>
                    <a:lstStyle/>
                    <a:p>
                      <a:pPr algn="r" indent="0" marL="0">
                        <a:buNone/>
                      </a:pPr>
                      <a:r>
                        <a:rPr lang="en-US" sz="1050" spc="107" kern="100" dirty="0">
                          <a:solidFill>
                            <a:srgbClr val="44545A"/>
                          </a:solidFill>
                          <a:latin typeface="Geist Mono" pitchFamily="34" charset="0"/>
                          <a:ea typeface="Geist Mono" pitchFamily="34" charset="-122"/>
                          <a:cs typeface="Geist Mono" pitchFamily="34" charset="-120"/>
                        </a:rPr>
                        <a:t>TOTAL CUSTOMERS</a:t>
                      </a:r>
                      <a:endParaRPr lang="en-US" sz="1050" dirty="0">
                        <a:latin typeface="Geist Mono" charset="0"/>
                        <a:ea typeface="Geist Mono" charset="0"/>
                        <a:cs typeface="Geist Mono" charset="0"/>
                      </a:endParaRPr>
                    </a:p>
                  </a:txBody>
                  <a:tcPr marL="50799" marR="203195" marT="101598" marB="101598" anchor="ctr">
                    <a:lnL w="12700" cap="flat" cmpd="sng" algn="ctr">
                      <a:solidFill>
                        <a:srgbClr val="D9E6DF"/>
                      </a:solidFill>
                      <a:prstDash val="solid"/>
                      <a:round/>
                      <a:headEnd type="none" w="med" len="med"/>
                      <a:tailEnd type="none" w="med" len="med"/>
                    </a:lnL>
                    <a:lnR w="12700" cap="flat" cmpd="sng" algn="ctr">
                      <a:solidFill>
                        <a:srgbClr val="D9E6DF"/>
                      </a:solidFill>
                      <a:prstDash val="solid"/>
                      <a:round/>
                      <a:headEnd type="none" w="med" len="med"/>
                      <a:tailEnd type="none" w="med" len="med"/>
                    </a:lnR>
                    <a:lnT w="12700" cap="flat" cmpd="sng" algn="ctr">
                      <a:solidFill>
                        <a:srgbClr val="D9E6DF"/>
                      </a:solidFill>
                      <a:prstDash val="solid"/>
                      <a:round/>
                      <a:headEnd type="none" w="med" len="med"/>
                      <a:tailEnd type="none" w="med" len="med"/>
                    </a:lnT>
                    <a:lnB w="12700" cap="flat" cmpd="sng" algn="ctr">
                      <a:solidFill>
                        <a:srgbClr val="17222B"/>
                      </a:solidFill>
                      <a:prstDash val="solid"/>
                      <a:round/>
                      <a:headEnd type="none" w="med" len="med"/>
                      <a:tailEnd type="none" w="med" len="med"/>
                    </a:lnB>
                  </a:tcPr>
                </a:tc>
                <a:tc>
                  <a:txBody>
                    <a:bodyPr/>
                    <a:lstStyle/>
                    <a:p>
                      <a:pPr algn="r" indent="0" marL="0">
                        <a:buNone/>
                      </a:pPr>
                      <a:r>
                        <a:rPr lang="en-US" sz="1050" spc="107" kern="100" dirty="0">
                          <a:solidFill>
                            <a:srgbClr val="44545A"/>
                          </a:solidFill>
                          <a:latin typeface="Geist Mono" pitchFamily="34" charset="0"/>
                          <a:ea typeface="Geist Mono" pitchFamily="34" charset="-122"/>
                          <a:cs typeface="Geist Mono" pitchFamily="34" charset="-120"/>
                        </a:rPr>
                        <a:t>AVERAGE SPEND (USD)</a:t>
                      </a:r>
                      <a:endParaRPr lang="en-US" sz="1050" dirty="0">
                        <a:latin typeface="Geist Mono" charset="0"/>
                        <a:ea typeface="Geist Mono" charset="0"/>
                        <a:cs typeface="Geist Mono" charset="0"/>
                      </a:endParaRPr>
                    </a:p>
                  </a:txBody>
                  <a:tcPr marL="50799" marR="203195" marT="101598" marB="101598" anchor="ctr">
                    <a:lnL w="12700" cap="flat" cmpd="sng" algn="ctr">
                      <a:solidFill>
                        <a:srgbClr val="D9E6DF"/>
                      </a:solidFill>
                      <a:prstDash val="solid"/>
                      <a:round/>
                      <a:headEnd type="none" w="med" len="med"/>
                      <a:tailEnd type="none" w="med" len="med"/>
                    </a:lnL>
                    <a:lnR w="12700" cap="flat" cmpd="sng" algn="ctr">
                      <a:solidFill>
                        <a:srgbClr val="D9E6DF"/>
                      </a:solidFill>
                      <a:prstDash val="solid"/>
                      <a:round/>
                      <a:headEnd type="none" w="med" len="med"/>
                      <a:tailEnd type="none" w="med" len="med"/>
                    </a:lnR>
                    <a:lnT w="12700" cap="flat" cmpd="sng" algn="ctr">
                      <a:solidFill>
                        <a:srgbClr val="D9E6DF"/>
                      </a:solidFill>
                      <a:prstDash val="solid"/>
                      <a:round/>
                      <a:headEnd type="none" w="med" len="med"/>
                      <a:tailEnd type="none" w="med" len="med"/>
                    </a:lnT>
                    <a:lnB w="12700" cap="flat" cmpd="sng" algn="ctr">
                      <a:solidFill>
                        <a:srgbClr val="17222B"/>
                      </a:solidFill>
                      <a:prstDash val="solid"/>
                      <a:round/>
                      <a:headEnd type="none" w="med" len="med"/>
                      <a:tailEnd type="none" w="med" len="med"/>
                    </a:lnB>
                  </a:tcPr>
                </a:tc>
                <a:tc>
                  <a:txBody>
                    <a:bodyPr/>
                    <a:lstStyle/>
                    <a:p>
                      <a:pPr algn="r" indent="0" marL="0">
                        <a:buNone/>
                      </a:pPr>
                      <a:r>
                        <a:rPr lang="en-US" sz="1050" spc="107" kern="100" dirty="0">
                          <a:solidFill>
                            <a:srgbClr val="44545A"/>
                          </a:solidFill>
                          <a:latin typeface="Geist Mono" pitchFamily="34" charset="0"/>
                          <a:ea typeface="Geist Mono" pitchFamily="34" charset="-122"/>
                          <a:cs typeface="Geist Mono" pitchFamily="34" charset="-120"/>
                        </a:rPr>
                        <a:t>TOTAL REVENUE (USD)</a:t>
                      </a:r>
                      <a:endParaRPr lang="en-US" sz="1050" dirty="0">
                        <a:latin typeface="Geist Mono" charset="0"/>
                        <a:ea typeface="Geist Mono" charset="0"/>
                        <a:cs typeface="Geist Mono" charset="0"/>
                      </a:endParaRPr>
                    </a:p>
                  </a:txBody>
                  <a:tcPr marL="50799" marR="203195" marT="101598" marB="101598" anchor="ctr">
                    <a:lnL w="12700" cap="flat" cmpd="sng" algn="ctr">
                      <a:solidFill>
                        <a:srgbClr val="D9E6DF"/>
                      </a:solidFill>
                      <a:prstDash val="solid"/>
                      <a:round/>
                      <a:headEnd type="none" w="med" len="med"/>
                      <a:tailEnd type="none" w="med" len="med"/>
                    </a:lnL>
                    <a:lnR w="12700" cap="flat" cmpd="sng" algn="ctr">
                      <a:solidFill>
                        <a:srgbClr val="D9E6DF"/>
                      </a:solidFill>
                      <a:prstDash val="solid"/>
                      <a:round/>
                      <a:headEnd type="none" w="med" len="med"/>
                      <a:tailEnd type="none" w="med" len="med"/>
                    </a:lnR>
                    <a:lnT w="12700" cap="flat" cmpd="sng" algn="ctr">
                      <a:solidFill>
                        <a:srgbClr val="D9E6DF"/>
                      </a:solidFill>
                      <a:prstDash val="solid"/>
                      <a:round/>
                      <a:headEnd type="none" w="med" len="med"/>
                      <a:tailEnd type="none" w="med" len="med"/>
                    </a:lnT>
                    <a:lnB w="12700" cap="flat" cmpd="sng" algn="ctr">
                      <a:solidFill>
                        <a:srgbClr val="17222B"/>
                      </a:solidFill>
                      <a:prstDash val="solid"/>
                      <a:round/>
                      <a:headEnd type="none" w="med" len="med"/>
                      <a:tailEnd type="none" w="med" len="med"/>
                    </a:lnB>
                  </a:tcPr>
                </a:tc>
              </a:tr>
              <a:tr h="456692">
                <a:tc>
                  <a:txBody>
                    <a:bodyPr/>
                    <a:lstStyle/>
                    <a:p>
                      <a:pPr algn="l" indent="0" marL="0">
                        <a:buNone/>
                      </a:pPr>
                      <a:r>
                        <a:rPr lang="en-US" sz="1300" dirty="0">
                          <a:solidFill>
                            <a:srgbClr val="17222B"/>
                          </a:solidFill>
                          <a:latin typeface="Be Vietnam Pro" pitchFamily="34" charset="0"/>
                          <a:ea typeface="Be Vietnam Pro" pitchFamily="34" charset="-122"/>
                          <a:cs typeface="Be Vietnam Pro" pitchFamily="34" charset="-120"/>
                        </a:rPr>
                        <a:t>Yes</a:t>
                      </a:r>
                      <a:endParaRPr lang="en-US" sz="1300" dirty="0">
                        <a:latin typeface="Be Vietnam Pro" charset="0"/>
                        <a:ea typeface="Be Vietnam Pro" charset="0"/>
                        <a:cs typeface="Be Vietnam Pro" charset="0"/>
                      </a:endParaRPr>
                    </a:p>
                  </a:txBody>
                  <a:tcPr marL="50799" marR="203195" marT="101598" marB="101598" anchor="ctr">
                    <a:lnL w="12700" cap="flat" cmpd="sng" algn="ctr">
                      <a:solidFill>
                        <a:srgbClr val="D9E6DF"/>
                      </a:solidFill>
                      <a:prstDash val="solid"/>
                      <a:round/>
                      <a:headEnd type="none" w="med" len="med"/>
                      <a:tailEnd type="none" w="med" len="med"/>
                    </a:lnL>
                    <a:lnR w="12700" cap="flat" cmpd="sng" algn="ctr">
                      <a:solidFill>
                        <a:srgbClr val="D9E6DF"/>
                      </a:solidFill>
                      <a:prstDash val="solid"/>
                      <a:round/>
                      <a:headEnd type="none" w="med" len="med"/>
                      <a:tailEnd type="none" w="med" len="med"/>
                    </a:lnR>
                    <a:lnT w="12700" cap="flat" cmpd="sng" algn="ctr">
                      <a:solidFill>
                        <a:srgbClr val="17222B"/>
                      </a:solidFill>
                      <a:prstDash val="solid"/>
                      <a:round/>
                      <a:headEnd type="none" w="med" len="med"/>
                      <a:tailEnd type="none" w="med" len="med"/>
                    </a:lnT>
                    <a:lnB w="12700" cap="flat" cmpd="sng" algn="ctr">
                      <a:solidFill>
                        <a:srgbClr val="17222B"/>
                      </a:solidFill>
                      <a:prstDash val="solid"/>
                      <a:round/>
                      <a:headEnd type="none" w="med" len="med"/>
                      <a:tailEnd type="none" w="med" len="med"/>
                    </a:lnB>
                  </a:tcPr>
                </a:tc>
                <a:tc>
                  <a:txBody>
                    <a:bodyPr/>
                    <a:lstStyle/>
                    <a:p>
                      <a:pPr algn="r" indent="0" marL="0">
                        <a:buNone/>
                      </a:pPr>
                      <a:r>
                        <a:rPr lang="en-US" sz="1300" dirty="0">
                          <a:solidFill>
                            <a:srgbClr val="17222B"/>
                          </a:solidFill>
                          <a:latin typeface="Be Vietnam Pro" pitchFamily="34" charset="0"/>
                          <a:ea typeface="Be Vietnam Pro" pitchFamily="34" charset="-122"/>
                          <a:cs typeface="Be Vietnam Pro" pitchFamily="34" charset="-120"/>
                        </a:rPr>
                        <a:t>1,053</a:t>
                      </a:r>
                      <a:endParaRPr lang="en-US" sz="1300" dirty="0">
                        <a:latin typeface="Be Vietnam Pro" charset="0"/>
                        <a:ea typeface="Be Vietnam Pro" charset="0"/>
                        <a:cs typeface="Be Vietnam Pro" charset="0"/>
                      </a:endParaRPr>
                    </a:p>
                  </a:txBody>
                  <a:tcPr marL="50799" marR="203195" marT="101598" marB="101598" anchor="ctr">
                    <a:lnL w="12700" cap="flat" cmpd="sng" algn="ctr">
                      <a:solidFill>
                        <a:srgbClr val="D9E6DF"/>
                      </a:solidFill>
                      <a:prstDash val="solid"/>
                      <a:round/>
                      <a:headEnd type="none" w="med" len="med"/>
                      <a:tailEnd type="none" w="med" len="med"/>
                    </a:lnL>
                    <a:lnR w="12700" cap="flat" cmpd="sng" algn="ctr">
                      <a:solidFill>
                        <a:srgbClr val="D9E6DF"/>
                      </a:solidFill>
                      <a:prstDash val="solid"/>
                      <a:round/>
                      <a:headEnd type="none" w="med" len="med"/>
                      <a:tailEnd type="none" w="med" len="med"/>
                    </a:lnR>
                    <a:lnT w="12700" cap="flat" cmpd="sng" algn="ctr">
                      <a:solidFill>
                        <a:srgbClr val="17222B"/>
                      </a:solidFill>
                      <a:prstDash val="solid"/>
                      <a:round/>
                      <a:headEnd type="none" w="med" len="med"/>
                      <a:tailEnd type="none" w="med" len="med"/>
                    </a:lnT>
                    <a:lnB w="12700" cap="flat" cmpd="sng" algn="ctr">
                      <a:solidFill>
                        <a:srgbClr val="17222B"/>
                      </a:solidFill>
                      <a:prstDash val="solid"/>
                      <a:round/>
                      <a:headEnd type="none" w="med" len="med"/>
                      <a:tailEnd type="none" w="med" len="med"/>
                    </a:lnB>
                  </a:tcPr>
                </a:tc>
                <a:tc>
                  <a:txBody>
                    <a:bodyPr/>
                    <a:lstStyle/>
                    <a:p>
                      <a:pPr algn="r" indent="0" marL="0">
                        <a:buNone/>
                      </a:pPr>
                      <a:r>
                        <a:rPr lang="en-US" sz="1300" dirty="0">
                          <a:solidFill>
                            <a:srgbClr val="17222B"/>
                          </a:solidFill>
                          <a:latin typeface="Be Vietnam Pro" pitchFamily="34" charset="0"/>
                          <a:ea typeface="Be Vietnam Pro" pitchFamily="34" charset="-122"/>
                          <a:cs typeface="Be Vietnam Pro" pitchFamily="34" charset="-120"/>
                        </a:rPr>
                        <a:t>$59.49</a:t>
                      </a:r>
                      <a:endParaRPr lang="en-US" sz="1300" dirty="0">
                        <a:latin typeface="Be Vietnam Pro" charset="0"/>
                        <a:ea typeface="Be Vietnam Pro" charset="0"/>
                        <a:cs typeface="Be Vietnam Pro" charset="0"/>
                      </a:endParaRPr>
                    </a:p>
                  </a:txBody>
                  <a:tcPr marL="50799" marR="203195" marT="101598" marB="101598" anchor="ctr">
                    <a:lnL w="12700" cap="flat" cmpd="sng" algn="ctr">
                      <a:solidFill>
                        <a:srgbClr val="D9E6DF"/>
                      </a:solidFill>
                      <a:prstDash val="solid"/>
                      <a:round/>
                      <a:headEnd type="none" w="med" len="med"/>
                      <a:tailEnd type="none" w="med" len="med"/>
                    </a:lnL>
                    <a:lnR w="12700" cap="flat" cmpd="sng" algn="ctr">
                      <a:solidFill>
                        <a:srgbClr val="D9E6DF"/>
                      </a:solidFill>
                      <a:prstDash val="solid"/>
                      <a:round/>
                      <a:headEnd type="none" w="med" len="med"/>
                      <a:tailEnd type="none" w="med" len="med"/>
                    </a:lnR>
                    <a:lnT w="12700" cap="flat" cmpd="sng" algn="ctr">
                      <a:solidFill>
                        <a:srgbClr val="17222B"/>
                      </a:solidFill>
                      <a:prstDash val="solid"/>
                      <a:round/>
                      <a:headEnd type="none" w="med" len="med"/>
                      <a:tailEnd type="none" w="med" len="med"/>
                    </a:lnT>
                    <a:lnB w="12700" cap="flat" cmpd="sng" algn="ctr">
                      <a:solidFill>
                        <a:srgbClr val="17222B"/>
                      </a:solidFill>
                      <a:prstDash val="solid"/>
                      <a:round/>
                      <a:headEnd type="none" w="med" len="med"/>
                      <a:tailEnd type="none" w="med" len="med"/>
                    </a:lnB>
                  </a:tcPr>
                </a:tc>
                <a:tc>
                  <a:txBody>
                    <a:bodyPr/>
                    <a:lstStyle/>
                    <a:p>
                      <a:pPr algn="r" indent="0" marL="0">
                        <a:buNone/>
                      </a:pPr>
                      <a:r>
                        <a:rPr lang="en-US" sz="1300" dirty="0">
                          <a:solidFill>
                            <a:srgbClr val="17222B"/>
                          </a:solidFill>
                          <a:latin typeface="Be Vietnam Pro" pitchFamily="34" charset="0"/>
                          <a:ea typeface="Be Vietnam Pro" pitchFamily="34" charset="-122"/>
                          <a:cs typeface="Be Vietnam Pro" pitchFamily="34" charset="-120"/>
                        </a:rPr>
                        <a:t>$62,645</a:t>
                      </a:r>
                      <a:endParaRPr lang="en-US" sz="1300" dirty="0">
                        <a:latin typeface="Be Vietnam Pro" charset="0"/>
                        <a:ea typeface="Be Vietnam Pro" charset="0"/>
                        <a:cs typeface="Be Vietnam Pro" charset="0"/>
                      </a:endParaRPr>
                    </a:p>
                  </a:txBody>
                  <a:tcPr marL="50799" marR="203195" marT="101598" marB="101598" anchor="ctr">
                    <a:lnL w="12700" cap="flat" cmpd="sng" algn="ctr">
                      <a:solidFill>
                        <a:srgbClr val="D9E6DF"/>
                      </a:solidFill>
                      <a:prstDash val="solid"/>
                      <a:round/>
                      <a:headEnd type="none" w="med" len="med"/>
                      <a:tailEnd type="none" w="med" len="med"/>
                    </a:lnL>
                    <a:lnR w="12700" cap="flat" cmpd="sng" algn="ctr">
                      <a:solidFill>
                        <a:srgbClr val="D9E6DF"/>
                      </a:solidFill>
                      <a:prstDash val="solid"/>
                      <a:round/>
                      <a:headEnd type="none" w="med" len="med"/>
                      <a:tailEnd type="none" w="med" len="med"/>
                    </a:lnR>
                    <a:lnT w="12700" cap="flat" cmpd="sng" algn="ctr">
                      <a:solidFill>
                        <a:srgbClr val="17222B"/>
                      </a:solidFill>
                      <a:prstDash val="solid"/>
                      <a:round/>
                      <a:headEnd type="none" w="med" len="med"/>
                      <a:tailEnd type="none" w="med" len="med"/>
                    </a:lnT>
                    <a:lnB w="12700" cap="flat" cmpd="sng" algn="ctr">
                      <a:solidFill>
                        <a:srgbClr val="17222B"/>
                      </a:solidFill>
                      <a:prstDash val="solid"/>
                      <a:round/>
                      <a:headEnd type="none" w="med" len="med"/>
                      <a:tailEnd type="none" w="med" len="med"/>
                    </a:lnB>
                  </a:tcPr>
                </a:tc>
              </a:tr>
              <a:tr h="450343">
                <a:tc>
                  <a:txBody>
                    <a:bodyPr/>
                    <a:lstStyle/>
                    <a:p>
                      <a:pPr algn="l" indent="0" marL="0">
                        <a:buNone/>
                      </a:pPr>
                      <a:r>
                        <a:rPr lang="en-US" sz="1300" dirty="0">
                          <a:solidFill>
                            <a:srgbClr val="17222B"/>
                          </a:solidFill>
                          <a:latin typeface="Be Vietnam Pro" pitchFamily="34" charset="0"/>
                          <a:ea typeface="Be Vietnam Pro" pitchFamily="34" charset="-122"/>
                          <a:cs typeface="Be Vietnam Pro" pitchFamily="34" charset="-120"/>
                        </a:rPr>
                        <a:t>No</a:t>
                      </a:r>
                      <a:endParaRPr lang="en-US" sz="1300" dirty="0">
                        <a:latin typeface="Be Vietnam Pro" charset="0"/>
                        <a:ea typeface="Be Vietnam Pro" charset="0"/>
                        <a:cs typeface="Be Vietnam Pro" charset="0"/>
                      </a:endParaRPr>
                    </a:p>
                  </a:txBody>
                  <a:tcPr marL="50799" marR="203195" marT="101598" marB="101598" anchor="ctr">
                    <a:lnL w="12700" cap="flat" cmpd="sng" algn="ctr">
                      <a:solidFill>
                        <a:srgbClr val="D9E6DF"/>
                      </a:solidFill>
                      <a:prstDash val="solid"/>
                      <a:round/>
                      <a:headEnd type="none" w="med" len="med"/>
                      <a:tailEnd type="none" w="med" len="med"/>
                    </a:lnL>
                    <a:lnR w="12700" cap="flat" cmpd="sng" algn="ctr">
                      <a:solidFill>
                        <a:srgbClr val="D9E6DF"/>
                      </a:solidFill>
                      <a:prstDash val="solid"/>
                      <a:round/>
                      <a:headEnd type="none" w="med" len="med"/>
                      <a:tailEnd type="none" w="med" len="med"/>
                    </a:lnR>
                    <a:lnT w="12700" cap="flat" cmpd="sng" algn="ctr">
                      <a:solidFill>
                        <a:srgbClr val="17222B"/>
                      </a:solidFill>
                      <a:prstDash val="solid"/>
                      <a:round/>
                      <a:headEnd type="none" w="med" len="med"/>
                      <a:tailEnd type="none" w="med" len="med"/>
                    </a:lnT>
                    <a:lnB w="12700" cap="flat" cmpd="sng" algn="ctr">
                      <a:solidFill>
                        <a:srgbClr val="D9E6DF"/>
                      </a:solidFill>
                      <a:prstDash val="solid"/>
                      <a:round/>
                      <a:headEnd type="none" w="med" len="med"/>
                      <a:tailEnd type="none" w="med" len="med"/>
                    </a:lnB>
                  </a:tcPr>
                </a:tc>
                <a:tc>
                  <a:txBody>
                    <a:bodyPr/>
                    <a:lstStyle/>
                    <a:p>
                      <a:pPr algn="r" indent="0" marL="0">
                        <a:buNone/>
                      </a:pPr>
                      <a:r>
                        <a:rPr lang="en-US" sz="1300" dirty="0">
                          <a:solidFill>
                            <a:srgbClr val="17222B"/>
                          </a:solidFill>
                          <a:latin typeface="Be Vietnam Pro" pitchFamily="34" charset="0"/>
                          <a:ea typeface="Be Vietnam Pro" pitchFamily="34" charset="-122"/>
                          <a:cs typeface="Be Vietnam Pro" pitchFamily="34" charset="-120"/>
                        </a:rPr>
                        <a:t>2,847</a:t>
                      </a:r>
                      <a:endParaRPr lang="en-US" sz="1300" dirty="0">
                        <a:latin typeface="Be Vietnam Pro" charset="0"/>
                        <a:ea typeface="Be Vietnam Pro" charset="0"/>
                        <a:cs typeface="Be Vietnam Pro" charset="0"/>
                      </a:endParaRPr>
                    </a:p>
                  </a:txBody>
                  <a:tcPr marL="50799" marR="203195" marT="101598" marB="101598" anchor="ctr">
                    <a:lnL w="12700" cap="flat" cmpd="sng" algn="ctr">
                      <a:solidFill>
                        <a:srgbClr val="D9E6DF"/>
                      </a:solidFill>
                      <a:prstDash val="solid"/>
                      <a:round/>
                      <a:headEnd type="none" w="med" len="med"/>
                      <a:tailEnd type="none" w="med" len="med"/>
                    </a:lnL>
                    <a:lnR w="12700" cap="flat" cmpd="sng" algn="ctr">
                      <a:solidFill>
                        <a:srgbClr val="D9E6DF"/>
                      </a:solidFill>
                      <a:prstDash val="solid"/>
                      <a:round/>
                      <a:headEnd type="none" w="med" len="med"/>
                      <a:tailEnd type="none" w="med" len="med"/>
                    </a:lnR>
                    <a:lnT w="12700" cap="flat" cmpd="sng" algn="ctr">
                      <a:solidFill>
                        <a:srgbClr val="17222B"/>
                      </a:solidFill>
                      <a:prstDash val="solid"/>
                      <a:round/>
                      <a:headEnd type="none" w="med" len="med"/>
                      <a:tailEnd type="none" w="med" len="med"/>
                    </a:lnT>
                    <a:lnB w="12700" cap="flat" cmpd="sng" algn="ctr">
                      <a:solidFill>
                        <a:srgbClr val="D9E6DF"/>
                      </a:solidFill>
                      <a:prstDash val="solid"/>
                      <a:round/>
                      <a:headEnd type="none" w="med" len="med"/>
                      <a:tailEnd type="none" w="med" len="med"/>
                    </a:lnB>
                  </a:tcPr>
                </a:tc>
                <a:tc>
                  <a:txBody>
                    <a:bodyPr/>
                    <a:lstStyle/>
                    <a:p>
                      <a:pPr algn="r" indent="0" marL="0">
                        <a:buNone/>
                      </a:pPr>
                      <a:r>
                        <a:rPr lang="en-US" sz="1300" dirty="0">
                          <a:solidFill>
                            <a:srgbClr val="17222B"/>
                          </a:solidFill>
                          <a:latin typeface="Be Vietnam Pro" pitchFamily="34" charset="0"/>
                          <a:ea typeface="Be Vietnam Pro" pitchFamily="34" charset="-122"/>
                          <a:cs typeface="Be Vietnam Pro" pitchFamily="34" charset="-120"/>
                        </a:rPr>
                        <a:t>$59.87</a:t>
                      </a:r>
                      <a:endParaRPr lang="en-US" sz="1300" dirty="0">
                        <a:latin typeface="Be Vietnam Pro" charset="0"/>
                        <a:ea typeface="Be Vietnam Pro" charset="0"/>
                        <a:cs typeface="Be Vietnam Pro" charset="0"/>
                      </a:endParaRPr>
                    </a:p>
                  </a:txBody>
                  <a:tcPr marL="50799" marR="203195" marT="101598" marB="101598" anchor="ctr">
                    <a:lnL w="12700" cap="flat" cmpd="sng" algn="ctr">
                      <a:solidFill>
                        <a:srgbClr val="D9E6DF"/>
                      </a:solidFill>
                      <a:prstDash val="solid"/>
                      <a:round/>
                      <a:headEnd type="none" w="med" len="med"/>
                      <a:tailEnd type="none" w="med" len="med"/>
                    </a:lnL>
                    <a:lnR w="12700" cap="flat" cmpd="sng" algn="ctr">
                      <a:solidFill>
                        <a:srgbClr val="D9E6DF"/>
                      </a:solidFill>
                      <a:prstDash val="solid"/>
                      <a:round/>
                      <a:headEnd type="none" w="med" len="med"/>
                      <a:tailEnd type="none" w="med" len="med"/>
                    </a:lnR>
                    <a:lnT w="12700" cap="flat" cmpd="sng" algn="ctr">
                      <a:solidFill>
                        <a:srgbClr val="17222B"/>
                      </a:solidFill>
                      <a:prstDash val="solid"/>
                      <a:round/>
                      <a:headEnd type="none" w="med" len="med"/>
                      <a:tailEnd type="none" w="med" len="med"/>
                    </a:lnT>
                    <a:lnB w="12700" cap="flat" cmpd="sng" algn="ctr">
                      <a:solidFill>
                        <a:srgbClr val="D9E6DF"/>
                      </a:solidFill>
                      <a:prstDash val="solid"/>
                      <a:round/>
                      <a:headEnd type="none" w="med" len="med"/>
                      <a:tailEnd type="none" w="med" len="med"/>
                    </a:lnB>
                  </a:tcPr>
                </a:tc>
                <a:tc>
                  <a:txBody>
                    <a:bodyPr/>
                    <a:lstStyle/>
                    <a:p>
                      <a:pPr algn="r" indent="0" marL="0">
                        <a:buNone/>
                      </a:pPr>
                      <a:r>
                        <a:rPr lang="en-US" sz="1300" dirty="0">
                          <a:solidFill>
                            <a:srgbClr val="17222B"/>
                          </a:solidFill>
                          <a:latin typeface="Be Vietnam Pro" pitchFamily="34" charset="0"/>
                          <a:ea typeface="Be Vietnam Pro" pitchFamily="34" charset="-122"/>
                          <a:cs typeface="Be Vietnam Pro" pitchFamily="34" charset="-120"/>
                        </a:rPr>
                        <a:t>$170,436</a:t>
                      </a:r>
                      <a:endParaRPr lang="en-US" sz="1300" dirty="0">
                        <a:latin typeface="Be Vietnam Pro" charset="0"/>
                        <a:ea typeface="Be Vietnam Pro" charset="0"/>
                        <a:cs typeface="Be Vietnam Pro" charset="0"/>
                      </a:endParaRPr>
                    </a:p>
                  </a:txBody>
                  <a:tcPr marL="50799" marR="203195" marT="101598" marB="101598" anchor="ctr">
                    <a:lnL w="12700" cap="flat" cmpd="sng" algn="ctr">
                      <a:solidFill>
                        <a:srgbClr val="D9E6DF"/>
                      </a:solidFill>
                      <a:prstDash val="solid"/>
                      <a:round/>
                      <a:headEnd type="none" w="med" len="med"/>
                      <a:tailEnd type="none" w="med" len="med"/>
                    </a:lnL>
                    <a:lnR w="12700" cap="flat" cmpd="sng" algn="ctr">
                      <a:solidFill>
                        <a:srgbClr val="D9E6DF"/>
                      </a:solidFill>
                      <a:prstDash val="solid"/>
                      <a:round/>
                      <a:headEnd type="none" w="med" len="med"/>
                      <a:tailEnd type="none" w="med" len="med"/>
                    </a:lnR>
                    <a:lnT w="12700" cap="flat" cmpd="sng" algn="ctr">
                      <a:solidFill>
                        <a:srgbClr val="17222B"/>
                      </a:solidFill>
                      <a:prstDash val="solid"/>
                      <a:round/>
                      <a:headEnd type="none" w="med" len="med"/>
                      <a:tailEnd type="none" w="med" len="med"/>
                    </a:lnT>
                    <a:lnB w="12700" cap="flat" cmpd="sng" algn="ctr">
                      <a:solidFill>
                        <a:srgbClr val="D9E6DF"/>
                      </a:solidFill>
                      <a:prstDash val="solid"/>
                      <a:round/>
                      <a:headEnd type="none" w="med" len="med"/>
                      <a:tailEnd type="none" w="med" len="med"/>
                    </a:lnB>
                  </a:tcPr>
                </a:tc>
              </a:tr>
            </a:tbl>
          </a:graphicData>
        </a:graphic>
      </p:graphicFrame>
      <p:sp>
        <p:nvSpPr>
          <p:cNvPr id="7" name="Text 4"/>
          <p:cNvSpPr/>
          <p:nvPr/>
        </p:nvSpPr>
        <p:spPr>
          <a:xfrm>
            <a:off x="457189" y="5075972"/>
            <a:ext cx="5313329" cy="692745"/>
          </a:xfrm>
          <a:prstGeom prst="rect">
            <a:avLst/>
          </a:prstGeom>
          <a:noFill/>
          <a:ln/>
        </p:spPr>
        <p:txBody>
          <a:bodyPr wrap="none" lIns="0" tIns="0" rIns="0" bIns="0" rtlCol="0" anchor="t"/>
          <a:lstStyle/>
          <a:p>
            <a:pPr algn="l" indent="0" marL="0">
              <a:lnSpc>
                <a:spcPct val="83000"/>
              </a:lnSpc>
              <a:buNone/>
            </a:pPr>
            <a:r>
              <a:rPr lang="en-US" sz="5450" dirty="0">
                <a:solidFill>
                  <a:srgbClr val="9E2F22"/>
                </a:solidFill>
                <a:latin typeface="Noto Serif Display Light" pitchFamily="34" charset="0"/>
                <a:ea typeface="Noto Serif Display Light" pitchFamily="34" charset="-122"/>
                <a:cs typeface="Noto Serif Display Light" pitchFamily="34" charset="-120"/>
              </a:rPr>
              <a:t>$59.49</a:t>
            </a:r>
            <a:endParaRPr lang="en-US" sz="5450" dirty="0"/>
          </a:p>
        </p:txBody>
      </p:sp>
      <p:sp>
        <p:nvSpPr>
          <p:cNvPr id="8" name="Text 5"/>
          <p:cNvSpPr/>
          <p:nvPr/>
        </p:nvSpPr>
        <p:spPr>
          <a:xfrm>
            <a:off x="457189" y="5851128"/>
            <a:ext cx="5638659" cy="231378"/>
          </a:xfrm>
          <a:prstGeom prst="rect">
            <a:avLst/>
          </a:prstGeom>
          <a:noFill/>
          <a:ln/>
        </p:spPr>
        <p:txBody>
          <a:bodyPr wrap="none" lIns="0" tIns="0" rIns="0" bIns="0" rtlCol="0" anchor="t"/>
          <a:lstStyle/>
          <a:p>
            <a:pPr algn="l" indent="0" marL="0">
              <a:lnSpc>
                <a:spcPct val="142000"/>
              </a:lnSpc>
              <a:buNone/>
            </a:pPr>
            <a:r>
              <a:rPr lang="en-US" sz="1050" spc="129" kern="100" dirty="0">
                <a:solidFill>
                  <a:srgbClr val="44545A"/>
                </a:solidFill>
                <a:latin typeface="Geist Mono" pitchFamily="34" charset="0"/>
                <a:ea typeface="Geist Mono" pitchFamily="34" charset="-122"/>
                <a:cs typeface="Geist Mono" pitchFamily="34" charset="-120"/>
              </a:rPr>
              <a:t>SUBSCRIBERS AVERAGE SPEND</a:t>
            </a:r>
            <a:endParaRPr lang="en-US" sz="1050" dirty="0"/>
          </a:p>
        </p:txBody>
      </p:sp>
      <p:sp>
        <p:nvSpPr>
          <p:cNvPr id="9" name="Text 6"/>
          <p:cNvSpPr/>
          <p:nvPr/>
        </p:nvSpPr>
        <p:spPr>
          <a:xfrm>
            <a:off x="457189" y="6187877"/>
            <a:ext cx="5638659" cy="274638"/>
          </a:xfrm>
          <a:prstGeom prst="rect">
            <a:avLst/>
          </a:prstGeom>
          <a:noFill/>
          <a:ln/>
        </p:spPr>
        <p:txBody>
          <a:bodyPr wrap="none" lIns="0" tIns="0" rIns="0" bIns="0" rtlCol="0" anchor="t"/>
          <a:lstStyle/>
          <a:p>
            <a:pPr algn="l" indent="0" marL="0">
              <a:lnSpc>
                <a:spcPct val="123000"/>
              </a:lnSpc>
              <a:buNone/>
            </a:pPr>
            <a:r>
              <a:rPr lang="en-US" sz="1450" dirty="0">
                <a:solidFill>
                  <a:srgbClr val="44545A"/>
                </a:solidFill>
                <a:latin typeface="Be Vietnam Pro" pitchFamily="34" charset="0"/>
                <a:ea typeface="Be Vietnam Pro" pitchFamily="34" charset="-122"/>
                <a:cs typeface="Be Vietnam Pro" pitchFamily="34" charset="-120"/>
              </a:rPr>
              <a:t>Across 1,053 customer records with active subscriptions.</a:t>
            </a:r>
            <a:endParaRPr lang="en-US" sz="1450" dirty="0"/>
          </a:p>
        </p:txBody>
      </p:sp>
      <p:sp>
        <p:nvSpPr>
          <p:cNvPr id="10" name="Text 7"/>
          <p:cNvSpPr/>
          <p:nvPr/>
        </p:nvSpPr>
        <p:spPr>
          <a:xfrm>
            <a:off x="6421178" y="5075972"/>
            <a:ext cx="5313329" cy="692745"/>
          </a:xfrm>
          <a:prstGeom prst="rect">
            <a:avLst/>
          </a:prstGeom>
          <a:noFill/>
          <a:ln/>
        </p:spPr>
        <p:txBody>
          <a:bodyPr wrap="none" lIns="0" tIns="0" rIns="0" bIns="0" rtlCol="0" anchor="t"/>
          <a:lstStyle/>
          <a:p>
            <a:pPr algn="l" indent="0" marL="0">
              <a:lnSpc>
                <a:spcPct val="83000"/>
              </a:lnSpc>
              <a:buNone/>
            </a:pPr>
            <a:r>
              <a:rPr lang="en-US" sz="5450" dirty="0">
                <a:solidFill>
                  <a:srgbClr val="9E2F22"/>
                </a:solidFill>
                <a:latin typeface="Noto Serif Display Light" pitchFamily="34" charset="0"/>
                <a:ea typeface="Noto Serif Display Light" pitchFamily="34" charset="-122"/>
                <a:cs typeface="Noto Serif Display Light" pitchFamily="34" charset="-120"/>
              </a:rPr>
              <a:t>$59.87</a:t>
            </a:r>
            <a:endParaRPr lang="en-US" sz="5450" dirty="0"/>
          </a:p>
        </p:txBody>
      </p:sp>
      <p:sp>
        <p:nvSpPr>
          <p:cNvPr id="11" name="Text 8"/>
          <p:cNvSpPr/>
          <p:nvPr/>
        </p:nvSpPr>
        <p:spPr>
          <a:xfrm>
            <a:off x="6421178" y="5851128"/>
            <a:ext cx="5313329" cy="231378"/>
          </a:xfrm>
          <a:prstGeom prst="rect">
            <a:avLst/>
          </a:prstGeom>
          <a:noFill/>
          <a:ln/>
        </p:spPr>
        <p:txBody>
          <a:bodyPr wrap="none" lIns="0" tIns="0" rIns="0" bIns="0" rtlCol="0" anchor="t"/>
          <a:lstStyle/>
          <a:p>
            <a:pPr algn="l" indent="0" marL="0">
              <a:lnSpc>
                <a:spcPct val="142000"/>
              </a:lnSpc>
              <a:buNone/>
            </a:pPr>
            <a:r>
              <a:rPr lang="en-US" sz="1050" spc="129" kern="100" dirty="0">
                <a:solidFill>
                  <a:srgbClr val="44545A"/>
                </a:solidFill>
                <a:latin typeface="Geist Mono" pitchFamily="34" charset="0"/>
                <a:ea typeface="Geist Mono" pitchFamily="34" charset="-122"/>
                <a:cs typeface="Geist Mono" pitchFamily="34" charset="-120"/>
              </a:rPr>
              <a:t>NON-SUBSCRIBERS AVERAGE SPEND</a:t>
            </a:r>
            <a:endParaRPr lang="en-US" sz="1050" dirty="0"/>
          </a:p>
        </p:txBody>
      </p:sp>
      <p:sp>
        <p:nvSpPr>
          <p:cNvPr id="12" name="Text 9"/>
          <p:cNvSpPr/>
          <p:nvPr/>
        </p:nvSpPr>
        <p:spPr>
          <a:xfrm>
            <a:off x="6421178" y="6187877"/>
            <a:ext cx="5313329" cy="274638"/>
          </a:xfrm>
          <a:prstGeom prst="rect">
            <a:avLst/>
          </a:prstGeom>
          <a:noFill/>
          <a:ln/>
        </p:spPr>
        <p:txBody>
          <a:bodyPr wrap="none" lIns="0" tIns="0" rIns="0" bIns="0" rtlCol="0" anchor="t"/>
          <a:lstStyle/>
          <a:p>
            <a:pPr algn="l" indent="0" marL="0">
              <a:lnSpc>
                <a:spcPct val="123000"/>
              </a:lnSpc>
              <a:buNone/>
            </a:pPr>
            <a:r>
              <a:rPr lang="en-US" sz="1450" dirty="0">
                <a:solidFill>
                  <a:srgbClr val="44545A"/>
                </a:solidFill>
                <a:latin typeface="Be Vietnam Pro" pitchFamily="34" charset="0"/>
                <a:ea typeface="Be Vietnam Pro" pitchFamily="34" charset="-122"/>
                <a:cs typeface="Be Vietnam Pro" pitchFamily="34" charset="-120"/>
              </a:rPr>
              <a:t>Across 2,847 customer records without subscriptions.</a:t>
            </a:r>
            <a:endParaRPr lang="en-US" sz="1450" dirty="0"/>
          </a:p>
        </p:txBody>
      </p:sp>
      <p:sp>
        <p:nvSpPr>
          <p:cNvPr id="13" name="Text 10"/>
          <p:cNvSpPr/>
          <p:nvPr/>
        </p:nvSpPr>
        <p:spPr>
          <a:xfrm>
            <a:off x="457189" y="6625134"/>
            <a:ext cx="11734506" cy="231378"/>
          </a:xfrm>
          <a:prstGeom prst="rect">
            <a:avLst/>
          </a:prstGeom>
          <a:noFill/>
          <a:ln/>
        </p:spPr>
        <p:txBody>
          <a:bodyPr wrap="none" lIns="0" tIns="0" rIns="0" bIns="0" rtlCol="0" anchor="t"/>
          <a:lstStyle/>
          <a:p>
            <a:pPr algn="l" indent="0" marL="0">
              <a:lnSpc>
                <a:spcPct val="142000"/>
              </a:lnSpc>
              <a:buNone/>
            </a:pPr>
            <a:r>
              <a:rPr lang="en-US" sz="1050" spc="129" kern="100" dirty="0">
                <a:solidFill>
                  <a:srgbClr val="44545A"/>
                </a:solidFill>
                <a:latin typeface="Geist Mono" pitchFamily="34" charset="0"/>
                <a:ea typeface="Geist Mono" pitchFamily="34" charset="-122"/>
                <a:cs typeface="Geist Mono" pitchFamily="34" charset="-120"/>
              </a:rPr>
              <a:t>SUBSCRIPTION CUSTOMERS, AVERAGE SPEND, AND REVENUE · 3,900 PURCHASES</a:t>
            </a:r>
            <a:endParaRPr lang="en-US" sz="1050" dirty="0"/>
          </a:p>
        </p:txBody>
      </p:sp>
      <p:sp>
        <p:nvSpPr>
          <p:cNvPr id="14" name="Shape 11"/>
          <p:cNvSpPr/>
          <p:nvPr/>
        </p:nvSpPr>
        <p:spPr>
          <a:xfrm>
            <a:off x="6086323" y="4977705"/>
            <a:ext cx="19050" cy="1484809"/>
          </a:xfrm>
          <a:prstGeom prst="rect">
            <a:avLst/>
          </a:prstGeom>
          <a:solidFill>
            <a:srgbClr val="808080">
              <a:alpha val="35000"/>
            </a:srgbClr>
          </a:solidFill>
          <a:ln/>
        </p:spPr>
      </p:sp>
      <p:sp>
        <p:nvSpPr>
          <p:cNvPr id="15" name="Text 12"/>
          <p:cNvSpPr/>
          <p:nvPr/>
        </p:nvSpPr>
        <p:spPr>
          <a:xfrm>
            <a:off x="11822908" y="6536630"/>
            <a:ext cx="368787" cy="185539"/>
          </a:xfrm>
          <a:prstGeom prst="rect">
            <a:avLst/>
          </a:prstGeom>
          <a:noFill/>
          <a:ln/>
        </p:spPr>
        <p:txBody>
          <a:bodyPr wrap="none" lIns="0" tIns="0" rIns="0" bIns="0" rtlCol="0" anchor="ctr"/>
          <a:lstStyle/>
          <a:p>
            <a:pPr algn="l" indent="0" marL="0">
              <a:lnSpc>
                <a:spcPct val="125000"/>
              </a:lnSpc>
              <a:buNone/>
            </a:pPr>
            <a:r>
              <a:rPr lang="en-US" sz="950" spc="117" kern="100" dirty="0">
                <a:solidFill>
                  <a:srgbClr val="9E2F22"/>
                </a:solidFill>
                <a:latin typeface="Geist Mono" pitchFamily="34" charset="0"/>
                <a:ea typeface="Geist Mono" pitchFamily="34" charset="-122"/>
                <a:cs typeface="Geist Mono" pitchFamily="34" charset="-120"/>
              </a:rPr>
              <a:t>09</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189" y="457200"/>
            <a:ext cx="11734506" cy="259755"/>
          </a:xfrm>
          <a:prstGeom prst="rect">
            <a:avLst/>
          </a:prstGeom>
          <a:noFill/>
          <a:ln/>
        </p:spPr>
        <p:txBody>
          <a:bodyPr wrap="none" lIns="0" tIns="0" rIns="0" bIns="0" rtlCol="0" anchor="t"/>
          <a:lstStyle/>
          <a:p>
            <a:pPr algn="l" indent="0" marL="0">
              <a:lnSpc>
                <a:spcPct val="158000"/>
              </a:lnSpc>
              <a:buNone/>
            </a:pPr>
            <a:r>
              <a:rPr lang="en-US" sz="1100" spc="108" kern="100" dirty="0">
                <a:solidFill>
                  <a:srgbClr val="9E2F22"/>
                </a:solidFill>
                <a:latin typeface="Geist Mono" pitchFamily="34" charset="0"/>
                <a:ea typeface="Geist Mono" pitchFamily="34" charset="-122"/>
                <a:cs typeface="Geist Mono" pitchFamily="34" charset="-120"/>
              </a:rPr>
              <a:t>— SQL ANALYSIS 06 · MERCHANDISE PROMOTION</a:t>
            </a:r>
            <a:endParaRPr lang="en-US" sz="1100" dirty="0"/>
          </a:p>
        </p:txBody>
      </p:sp>
      <p:sp>
        <p:nvSpPr>
          <p:cNvPr id="3" name="Text 1"/>
          <p:cNvSpPr/>
          <p:nvPr/>
        </p:nvSpPr>
        <p:spPr>
          <a:xfrm>
            <a:off x="457189" y="869569"/>
            <a:ext cx="11277318" cy="1475978"/>
          </a:xfrm>
          <a:prstGeom prst="rect">
            <a:avLst/>
          </a:prstGeom>
          <a:noFill/>
          <a:ln/>
        </p:spPr>
        <p:txBody>
          <a:bodyPr wrap="square" lIns="0" tIns="0" rIns="0" bIns="0" rtlCol="0" anchor="t">
            <a:normAutofit/>
          </a:bodyPr>
          <a:lstStyle/>
          <a:p>
            <a:pPr algn="l" indent="0" marL="0">
              <a:lnSpc>
                <a:spcPct val="88000"/>
              </a:lnSpc>
              <a:buNone/>
            </a:pPr>
            <a:r>
              <a:rPr lang="en-US" sz="5500" dirty="0">
                <a:solidFill>
                  <a:srgbClr val="17222B"/>
                </a:solidFill>
                <a:latin typeface="Noto Serif Display Light" pitchFamily="34" charset="0"/>
                <a:ea typeface="Noto Serif Display Light" pitchFamily="34" charset="-122"/>
                <a:cs typeface="Noto Serif Display Light" pitchFamily="34" charset="-120"/>
              </a:rPr>
              <a:t>DISCOUNT-DEPENDENT PRODUCTS</a:t>
            </a:r>
            <a:endParaRPr lang="en-US" sz="5500" dirty="0"/>
          </a:p>
        </p:txBody>
      </p:sp>
      <p:sp>
        <p:nvSpPr>
          <p:cNvPr id="4" name="Shape 2"/>
          <p:cNvSpPr/>
          <p:nvPr/>
        </p:nvSpPr>
        <p:spPr>
          <a:xfrm>
            <a:off x="457189" y="2728020"/>
            <a:ext cx="1409665" cy="12601"/>
          </a:xfrm>
          <a:prstGeom prst="roundRect">
            <a:avLst>
              <a:gd name="adj" fmla="val 49998"/>
            </a:avLst>
          </a:prstGeom>
          <a:solidFill>
            <a:srgbClr val="9E2F22"/>
          </a:solidFill>
          <a:ln/>
        </p:spPr>
      </p:sp>
      <p:sp>
        <p:nvSpPr>
          <p:cNvPr id="5" name="Text 3"/>
          <p:cNvSpPr/>
          <p:nvPr/>
        </p:nvSpPr>
        <p:spPr>
          <a:xfrm>
            <a:off x="457189" y="3132793"/>
            <a:ext cx="11734506" cy="276820"/>
          </a:xfrm>
          <a:prstGeom prst="rect">
            <a:avLst/>
          </a:prstGeom>
          <a:noFill/>
          <a:ln/>
        </p:spPr>
        <p:txBody>
          <a:bodyPr wrap="none" lIns="0" tIns="0" rIns="0" bIns="0" rtlCol="0" anchor="t"/>
          <a:lstStyle/>
          <a:p>
            <a:pPr algn="l" indent="0" marL="0">
              <a:lnSpc>
                <a:spcPct val="124000"/>
              </a:lnSpc>
              <a:buNone/>
            </a:pPr>
            <a:r>
              <a:rPr lang="en-US" sz="1450" dirty="0">
                <a:solidFill>
                  <a:srgbClr val="17222B"/>
                </a:solidFill>
                <a:latin typeface="Be Vietnam Pro" pitchFamily="34" charset="0"/>
                <a:ea typeface="Be Vietnam Pro" pitchFamily="34" charset="-122"/>
                <a:cs typeface="Be Vietnam Pro" pitchFamily="34" charset="-120"/>
              </a:rPr>
              <a:t>Five products with the highest percentage of discounted purchases.</a:t>
            </a:r>
            <a:endParaRPr lang="en-US" sz="1450" dirty="0"/>
          </a:p>
        </p:txBody>
      </p:sp>
      <p:sp>
        <p:nvSpPr>
          <p:cNvPr id="6" name="Text 4"/>
          <p:cNvSpPr/>
          <p:nvPr/>
        </p:nvSpPr>
        <p:spPr>
          <a:xfrm>
            <a:off x="457189" y="3903441"/>
            <a:ext cx="3806432" cy="696218"/>
          </a:xfrm>
          <a:prstGeom prst="rect">
            <a:avLst/>
          </a:prstGeom>
          <a:noFill/>
          <a:ln/>
        </p:spPr>
        <p:txBody>
          <a:bodyPr wrap="none" lIns="0" tIns="0" rIns="0" bIns="0" rtlCol="0" anchor="t"/>
          <a:lstStyle/>
          <a:p>
            <a:pPr algn="l" indent="0" marL="0">
              <a:lnSpc>
                <a:spcPct val="83000"/>
              </a:lnSpc>
              <a:buNone/>
            </a:pPr>
            <a:r>
              <a:rPr lang="en-US" sz="5500" dirty="0">
                <a:solidFill>
                  <a:srgbClr val="9E2F22"/>
                </a:solidFill>
                <a:latin typeface="Noto Serif Display Light" pitchFamily="34" charset="0"/>
                <a:ea typeface="Noto Serif Display Light" pitchFamily="34" charset="-122"/>
                <a:cs typeface="Noto Serif Display Light" pitchFamily="34" charset="-120"/>
              </a:rPr>
              <a:t>50.0%</a:t>
            </a:r>
            <a:endParaRPr lang="en-US" sz="5500" dirty="0"/>
          </a:p>
        </p:txBody>
      </p:sp>
      <p:sp>
        <p:nvSpPr>
          <p:cNvPr id="7" name="Text 5"/>
          <p:cNvSpPr/>
          <p:nvPr/>
        </p:nvSpPr>
        <p:spPr>
          <a:xfrm>
            <a:off x="457189" y="4615847"/>
            <a:ext cx="3806432" cy="1056977"/>
          </a:xfrm>
          <a:prstGeom prst="rect">
            <a:avLst/>
          </a:prstGeom>
          <a:noFill/>
          <a:ln/>
        </p:spPr>
        <p:txBody>
          <a:bodyPr wrap="square" lIns="0" tIns="0" rIns="0" bIns="0" rtlCol="0" anchor="t">
            <a:normAutofit/>
          </a:bodyPr>
          <a:lstStyle/>
          <a:p>
            <a:pPr algn="l" indent="0" marL="0">
              <a:lnSpc>
                <a:spcPct val="113000"/>
              </a:lnSpc>
              <a:buNone/>
            </a:pPr>
            <a:r>
              <a:rPr lang="en-US" sz="2050" i="1" spc="21" kern="100" dirty="0">
                <a:solidFill>
                  <a:srgbClr val="44545A"/>
                </a:solidFill>
                <a:latin typeface="Be Vietnam Pro Medium" pitchFamily="34" charset="0"/>
                <a:ea typeface="Be Vietnam Pro Medium" pitchFamily="34" charset="-122"/>
                <a:cs typeface="Be Vietnam Pro Medium" pitchFamily="34" charset="-120"/>
              </a:rPr>
              <a:t>The five listed products have discount rates between 47.37% and 50.00%.</a:t>
            </a:r>
            <a:endParaRPr lang="en-US" sz="2050" dirty="0"/>
          </a:p>
        </p:txBody>
      </p:sp>
      <p:sp>
        <p:nvSpPr>
          <p:cNvPr id="8" name="Text 6"/>
          <p:cNvSpPr/>
          <p:nvPr/>
        </p:nvSpPr>
        <p:spPr>
          <a:xfrm>
            <a:off x="457189" y="5798701"/>
            <a:ext cx="3806432" cy="830461"/>
          </a:xfrm>
          <a:prstGeom prst="rect">
            <a:avLst/>
          </a:prstGeom>
          <a:noFill/>
          <a:ln/>
        </p:spPr>
        <p:txBody>
          <a:bodyPr wrap="square" lIns="0" tIns="0" rIns="0" bIns="0" rtlCol="0" anchor="t">
            <a:normAutofit/>
          </a:bodyPr>
          <a:lstStyle/>
          <a:p>
            <a:pPr algn="l" indent="0" marL="0">
              <a:lnSpc>
                <a:spcPct val="124000"/>
              </a:lnSpc>
              <a:buNone/>
            </a:pPr>
            <a:r>
              <a:rPr lang="en-US" sz="1450" dirty="0">
                <a:solidFill>
                  <a:srgbClr val="44545A"/>
                </a:solidFill>
                <a:latin typeface="Be Vietnam Pro" pitchFamily="34" charset="0"/>
                <a:ea typeface="Be Vietnam Pro" pitchFamily="34" charset="-122"/>
                <a:cs typeface="Be Vietnam Pro" pitchFamily="34" charset="-120"/>
              </a:rPr>
              <a:t>Hat leads at 50.00%, followed closely by Sneakers at 49.66%, Coat at 49.07%, Sweater at 48.17%, and Pants at 47.37%.</a:t>
            </a:r>
            <a:endParaRPr lang="en-US" sz="1450" dirty="0"/>
          </a:p>
        </p:txBody>
      </p:sp>
      <p:pic>
        <p:nvPicPr>
          <p:cNvPr id="9" name="Image 0" descr="preencoded.png">    </p:cNvPr>
          <p:cNvPicPr>
            <a:picLocks noChangeAspect="1"/>
          </p:cNvPicPr>
          <p:nvPr/>
        </p:nvPicPr>
        <p:blipFill>
          <a:blip r:embed="rId1"/>
          <a:stretch>
            <a:fillRect/>
          </a:stretch>
        </p:blipFill>
        <p:spPr>
          <a:xfrm>
            <a:off x="4920631" y="3571577"/>
            <a:ext cx="6603835" cy="2857500"/>
          </a:xfrm>
          <a:prstGeom prst="rect">
            <a:avLst/>
          </a:prstGeom>
        </p:spPr>
      </p:pic>
      <p:sp>
        <p:nvSpPr>
          <p:cNvPr id="10" name="Text 7"/>
          <p:cNvSpPr/>
          <p:nvPr/>
        </p:nvSpPr>
        <p:spPr>
          <a:xfrm>
            <a:off x="4920631" y="6502003"/>
            <a:ext cx="6813876" cy="232370"/>
          </a:xfrm>
          <a:prstGeom prst="rect">
            <a:avLst/>
          </a:prstGeom>
          <a:noFill/>
          <a:ln/>
        </p:spPr>
        <p:txBody>
          <a:bodyPr wrap="none" lIns="0" tIns="0" rIns="0" bIns="0" rtlCol="0" anchor="t"/>
          <a:lstStyle/>
          <a:p>
            <a:pPr algn="l" indent="0" marL="0">
              <a:lnSpc>
                <a:spcPct val="142000"/>
              </a:lnSpc>
              <a:buNone/>
            </a:pPr>
            <a:r>
              <a:rPr lang="en-US" sz="1100" spc="129" kern="100" dirty="0">
                <a:solidFill>
                  <a:srgbClr val="44545A"/>
                </a:solidFill>
                <a:latin typeface="Geist Mono" pitchFamily="34" charset="0"/>
                <a:ea typeface="Geist Mono" pitchFamily="34" charset="-122"/>
                <a:cs typeface="Geist Mono" pitchFamily="34" charset="-120"/>
              </a:rPr>
              <a:t>DISCOUNT RATE BY PRODUCT (%) · TOP 5 DISCOUNT-DEPENDENT ITEMS</a:t>
            </a:r>
            <a:endParaRPr lang="en-US" sz="1100" dirty="0"/>
          </a:p>
        </p:txBody>
      </p:sp>
      <p:sp>
        <p:nvSpPr>
          <p:cNvPr id="11" name="Shape 8"/>
          <p:cNvSpPr/>
          <p:nvPr/>
        </p:nvSpPr>
        <p:spPr>
          <a:xfrm>
            <a:off x="4582601" y="3571577"/>
            <a:ext cx="19050" cy="3289796"/>
          </a:xfrm>
          <a:prstGeom prst="rect">
            <a:avLst/>
          </a:prstGeom>
          <a:solidFill>
            <a:srgbClr val="808080">
              <a:alpha val="35000"/>
            </a:srgbClr>
          </a:solidFill>
          <a:ln/>
        </p:spPr>
      </p:sp>
      <p:sp>
        <p:nvSpPr>
          <p:cNvPr id="12" name="Text 9"/>
          <p:cNvSpPr/>
          <p:nvPr/>
        </p:nvSpPr>
        <p:spPr>
          <a:xfrm>
            <a:off x="11822015" y="6536134"/>
            <a:ext cx="369680" cy="186432"/>
          </a:xfrm>
          <a:prstGeom prst="rect">
            <a:avLst/>
          </a:prstGeom>
          <a:noFill/>
          <a:ln/>
        </p:spPr>
        <p:txBody>
          <a:bodyPr wrap="none" lIns="0" tIns="0" rIns="0" bIns="0" rtlCol="0" anchor="ctr"/>
          <a:lstStyle/>
          <a:p>
            <a:pPr algn="l" indent="0" marL="0">
              <a:lnSpc>
                <a:spcPct val="125000"/>
              </a:lnSpc>
              <a:buNone/>
            </a:pPr>
            <a:r>
              <a:rPr lang="en-US" sz="1000" spc="117" kern="100" dirty="0">
                <a:solidFill>
                  <a:srgbClr val="9E2F22"/>
                </a:solidFill>
                <a:latin typeface="Geist Mono" pitchFamily="34" charset="0"/>
                <a:ea typeface="Geist Mono" pitchFamily="34" charset="-122"/>
                <a:cs typeface="Geist Mono" pitchFamily="34" charset="-120"/>
              </a:rPr>
              <a:t>10</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2026-10-08T15:53:56Z</dcterms:created>
  <dcterms:modified xsi:type="dcterms:W3CDTF">2026-10-08T15:53:56Z</dcterms:modified>
</cp:coreProperties>
</file>